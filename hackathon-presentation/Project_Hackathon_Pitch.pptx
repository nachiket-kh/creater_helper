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3a9180809ad47b0" /><Relationship Type="http://schemas.openxmlformats.org/officeDocument/2006/relationships/extended-properties" Target="/docProps/app.xml" Id="R99db114ece1f4aa1" /><Relationship Type="http://schemas.openxmlformats.org/officeDocument/2006/relationships/officeDocument" Target="/ppt/presentation.xml" Id="Rdf4dfa9a3c3f4c2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810e724a69f4989"/>
  </p:sldMasterIdLst>
  <p:notesMasterIdLst>
    <p:notesMasterId xmlns:r="http://schemas.openxmlformats.org/officeDocument/2006/relationships" r:id="R6ad42198dcfc4672"/>
  </p:notesMasterIdLst>
  <p:sldIdLst>
    <p:sldId xmlns:r="http://schemas.openxmlformats.org/officeDocument/2006/relationships" id="256" r:id="R6afe8cc89eeb47e1"/>
    <p:sldId xmlns:r="http://schemas.openxmlformats.org/officeDocument/2006/relationships" id="257" r:id="R914577484e864367"/>
    <p:sldId xmlns:r="http://schemas.openxmlformats.org/officeDocument/2006/relationships" id="258" r:id="R1360b3edf6704556"/>
    <p:sldId xmlns:r="http://schemas.openxmlformats.org/officeDocument/2006/relationships" id="259" r:id="R7d3785935fb947ec"/>
    <p:sldId xmlns:r="http://schemas.openxmlformats.org/officeDocument/2006/relationships" id="260" r:id="Re50ae5f4d3774e43"/>
    <p:sldId xmlns:r="http://schemas.openxmlformats.org/officeDocument/2006/relationships" id="261" r:id="Rd6550fa4cd384072"/>
    <p:sldId xmlns:r="http://schemas.openxmlformats.org/officeDocument/2006/relationships" id="262" r:id="R73cde902398f4cb0"/>
    <p:sldId xmlns:r="http://schemas.openxmlformats.org/officeDocument/2006/relationships" id="263" r:id="R2d80b4be277541ca"/>
    <p:sldId xmlns:r="http://schemas.openxmlformats.org/officeDocument/2006/relationships" id="264" r:id="R89322e80ea1c4793"/>
    <p:sldId xmlns:r="http://schemas.openxmlformats.org/officeDocument/2006/relationships" id="265" r:id="R555c4bedfa154eb5"/>
    <p:sldId xmlns:r="http://schemas.openxmlformats.org/officeDocument/2006/relationships" id="266" r:id="R18f9b2e21bc545ac"/>
    <p:sldId xmlns:r="http://schemas.openxmlformats.org/officeDocument/2006/relationships" id="267" r:id="R94bbe06366b34025"/>
    <p:sldId xmlns:r="http://schemas.openxmlformats.org/officeDocument/2006/relationships" id="268" r:id="R93c55cae562044d0"/>
    <p:sldId xmlns:r="http://schemas.openxmlformats.org/officeDocument/2006/relationships" id="269" r:id="R5293bba1cdc74ced"/>
    <p:sldId xmlns:r="http://schemas.openxmlformats.org/officeDocument/2006/relationships" id="270" r:id="Reaf29cc9dd344b6c"/>
    <p:sldId xmlns:r="http://schemas.openxmlformats.org/officeDocument/2006/relationships" id="271" r:id="R43f88ee753c44581"/>
    <p:sldId xmlns:r="http://schemas.openxmlformats.org/officeDocument/2006/relationships" id="272" r:id="Rea7d2ad7ae534e37"/>
    <p:sldId xmlns:r="http://schemas.openxmlformats.org/officeDocument/2006/relationships" id="273" r:id="R98549261cda74451"/>
    <p:sldId xmlns:r="http://schemas.openxmlformats.org/officeDocument/2006/relationships" id="274" r:id="R6c569c5564be4e4a"/>
    <p:sldId xmlns:r="http://schemas.openxmlformats.org/officeDocument/2006/relationships" id="275" r:id="R653a38b24128475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4e2019ca9be4d82" /><Relationship Type="http://schemas.openxmlformats.org/officeDocument/2006/relationships/slideMaster" Target="/ppt/slideMasters/slideMaster1.xml" Id="Rb810e724a69f4989" /><Relationship Type="http://schemas.openxmlformats.org/officeDocument/2006/relationships/notesMaster" Target="/ppt/notesMasters/notesMaster1.xml" Id="R6ad42198dcfc4672" /><Relationship Type="http://schemas.openxmlformats.org/officeDocument/2006/relationships/presProps" Target="/ppt/presProps.xml" Id="Rdbe0b4d98fbd4fa1" /><Relationship Type="http://schemas.openxmlformats.org/officeDocument/2006/relationships/tableStyles" Target="/ppt/tableStyles.xml" Id="R61f6965d230145a8" /><Relationship Type="http://schemas.openxmlformats.org/officeDocument/2006/relationships/slide" Target="/ppt/slides/slide1.xml" Id="R6afe8cc89eeb47e1" /><Relationship Type="http://schemas.openxmlformats.org/officeDocument/2006/relationships/slide" Target="/ppt/slides/slide2.xml" Id="R914577484e864367" /><Relationship Type="http://schemas.openxmlformats.org/officeDocument/2006/relationships/slide" Target="/ppt/slides/slide3.xml" Id="R1360b3edf6704556" /><Relationship Type="http://schemas.openxmlformats.org/officeDocument/2006/relationships/slide" Target="/ppt/slides/slide4.xml" Id="R7d3785935fb947ec" /><Relationship Type="http://schemas.openxmlformats.org/officeDocument/2006/relationships/slide" Target="/ppt/slides/slide5.xml" Id="Re50ae5f4d3774e43" /><Relationship Type="http://schemas.openxmlformats.org/officeDocument/2006/relationships/slide" Target="/ppt/slides/slide6.xml" Id="Rd6550fa4cd384072" /><Relationship Type="http://schemas.openxmlformats.org/officeDocument/2006/relationships/slide" Target="/ppt/slides/slide7.xml" Id="R73cde902398f4cb0" /><Relationship Type="http://schemas.openxmlformats.org/officeDocument/2006/relationships/slide" Target="/ppt/slides/slide8.xml" Id="R2d80b4be277541ca" /><Relationship Type="http://schemas.openxmlformats.org/officeDocument/2006/relationships/slide" Target="/ppt/slides/slide9.xml" Id="R89322e80ea1c4793" /><Relationship Type="http://schemas.openxmlformats.org/officeDocument/2006/relationships/slide" Target="/ppt/slides/slide10.xml" Id="R555c4bedfa154eb5" /><Relationship Type="http://schemas.openxmlformats.org/officeDocument/2006/relationships/slide" Target="/ppt/slides/slide11.xml" Id="R18f9b2e21bc545ac" /><Relationship Type="http://schemas.openxmlformats.org/officeDocument/2006/relationships/slide" Target="/ppt/slides/slide12.xml" Id="R94bbe06366b34025" /><Relationship Type="http://schemas.openxmlformats.org/officeDocument/2006/relationships/slide" Target="/ppt/slides/slide13.xml" Id="R93c55cae562044d0" /><Relationship Type="http://schemas.openxmlformats.org/officeDocument/2006/relationships/slide" Target="/ppt/slides/slide14.xml" Id="R5293bba1cdc74ced" /><Relationship Type="http://schemas.openxmlformats.org/officeDocument/2006/relationships/slide" Target="/ppt/slides/slide15.xml" Id="Reaf29cc9dd344b6c" /><Relationship Type="http://schemas.openxmlformats.org/officeDocument/2006/relationships/slide" Target="/ppt/slides/slide16.xml" Id="R43f88ee753c44581" /><Relationship Type="http://schemas.openxmlformats.org/officeDocument/2006/relationships/slide" Target="/ppt/slides/slide17.xml" Id="Rea7d2ad7ae534e37" /><Relationship Type="http://schemas.openxmlformats.org/officeDocument/2006/relationships/slide" Target="/ppt/slides/slide18.xml" Id="R98549261cda74451" /><Relationship Type="http://schemas.openxmlformats.org/officeDocument/2006/relationships/slide" Target="/ppt/slides/slide19.xml" Id="R6c569c5564be4e4a" /><Relationship Type="http://schemas.openxmlformats.org/officeDocument/2006/relationships/slide" Target="/ppt/slides/slide20.xml" Id="R653a38b24128475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23842e7e3b145e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ab91a9737b34f71" /><Relationship Type="http://schemas.openxmlformats.org/officeDocument/2006/relationships/notesMaster" Target="/ppt/notesMasters/notesMaster1.xml" Id="R6e926e6d1321485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ac68d368f0d40da" /><Relationship Type="http://schemas.openxmlformats.org/officeDocument/2006/relationships/notesMaster" Target="/ppt/notesMasters/notesMaster1.xml" Id="R272115ab744143b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52c55d9d1f74c28" /><Relationship Type="http://schemas.openxmlformats.org/officeDocument/2006/relationships/notesMaster" Target="/ppt/notesMasters/notesMaster1.xml" Id="R5ea0771d4258470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b78f44a7613473b" /><Relationship Type="http://schemas.openxmlformats.org/officeDocument/2006/relationships/notesMaster" Target="/ppt/notesMasters/notesMaster1.xml" Id="R0156a7559d534fb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e660482f2314df0" /><Relationship Type="http://schemas.openxmlformats.org/officeDocument/2006/relationships/notesMaster" Target="/ppt/notesMasters/notesMaster1.xml" Id="R48c881d7d1864e6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cdcdf32c23044ee" /><Relationship Type="http://schemas.openxmlformats.org/officeDocument/2006/relationships/notesMaster" Target="/ppt/notesMasters/notesMaster1.xml" Id="R603f76fb10244c3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1cf282e19204bac" /><Relationship Type="http://schemas.openxmlformats.org/officeDocument/2006/relationships/notesMaster" Target="/ppt/notesMasters/notesMaster1.xml" Id="R4cac5517a6ba41d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7284101d5f346f0" /><Relationship Type="http://schemas.openxmlformats.org/officeDocument/2006/relationships/notesMaster" Target="/ppt/notesMasters/notesMaster1.xml" Id="R6a356837ed04427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676e470e0564886" /><Relationship Type="http://schemas.openxmlformats.org/officeDocument/2006/relationships/notesMaster" Target="/ppt/notesMasters/notesMaster1.xml" Id="R653934a4b2934aa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f99b553424042fd" /><Relationship Type="http://schemas.openxmlformats.org/officeDocument/2006/relationships/notesMaster" Target="/ppt/notesMasters/notesMaster1.xml" Id="R13feb8931e7f4c4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180dc277cb3479a" /><Relationship Type="http://schemas.openxmlformats.org/officeDocument/2006/relationships/notesMaster" Target="/ppt/notesMasters/notesMaster1.xml" Id="R249c3337688b49b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39b038d15f84a2a" /><Relationship Type="http://schemas.openxmlformats.org/officeDocument/2006/relationships/notesMaster" Target="/ppt/notesMasters/notesMaster1.xml" Id="Rf11091fb4e2240b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322d48bc5844bcf" /><Relationship Type="http://schemas.openxmlformats.org/officeDocument/2006/relationships/notesMaster" Target="/ppt/notesMasters/notesMaster1.xml" Id="R7d082d8ff9bb45b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0cd7a1e9249498f" /><Relationship Type="http://schemas.openxmlformats.org/officeDocument/2006/relationships/notesMaster" Target="/ppt/notesMasters/notesMaster1.xml" Id="R00ee657e6ff6430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06970dc8f9d4dc2" /><Relationship Type="http://schemas.openxmlformats.org/officeDocument/2006/relationships/notesMaster" Target="/ppt/notesMasters/notesMaster1.xml" Id="Rdd5ac10a6882477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e60420689824975" /><Relationship Type="http://schemas.openxmlformats.org/officeDocument/2006/relationships/notesMaster" Target="/ppt/notesMasters/notesMaster1.xml" Id="R041c850550eb4cb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2df79d1aa08458d" /><Relationship Type="http://schemas.openxmlformats.org/officeDocument/2006/relationships/notesMaster" Target="/ppt/notesMasters/notesMaster1.xml" Id="R013863815619477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cc2109e626d4473" /><Relationship Type="http://schemas.openxmlformats.org/officeDocument/2006/relationships/notesMaster" Target="/ppt/notesMasters/notesMaster1.xml" Id="R411a5bf359b6407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0b90d7473f54716" /><Relationship Type="http://schemas.openxmlformats.org/officeDocument/2006/relationships/notesMaster" Target="/ppt/notesMasters/notesMaster1.xml" Id="R8d529fb3c29748a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8fd74eb80504ac3" /><Relationship Type="http://schemas.openxmlformats.org/officeDocument/2006/relationships/notesMaster" Target="/ppt/notesMasters/notesMaster1.xml" Id="Rf6e2e9e61563442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context taken from the CollabDesk workspace README and prototype. Demo currently uses seeded creator and deal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seeded Café Ramwadi example. The difference is ₹15,000 - ₹8,000 = ₹7,000; this is an illustrative demo offer versus the seeded reel rate, not a claim about creator earnings or market averages.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 framing is a product hypothesis based on the workflow CollabDesk addresses; no market-size or user-research claims are asserted.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Creator profile, rates, niche and guardrails come from server/data/db.json. These are seeded demo settings, not a real creator account.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left column describes a plausible email-only manual workflow; it is a design comparison, not a researched competitive claim. The right column maps to actual prototype routes and features.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three-part framing interprets the requested theme “attraction, motion, transformation” as the CollabDesk product narrative.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Views and labels correspond to the current application navigation in src/App.jsx. Content and deal values are prototype workspace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Capabilities are documented in README.md and implemented in the React/Vite frontend and Node/Hono API. Email parsing and reply drafting can use a model when configured; deterministic fallback paths are available.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Deal example and rate are taken from server/samples.js, server/index.js and server/data/db.json. Quote logic compares this offer with the reel rate; pricing uses the deal format and usage period, not a sum of all deliverables.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Pricing logic comes from server/rate.js. The threshold and example are calculated from the demo reel rate (₹15,000 × 0.70 = ₹10,500). The quote function prices the deal format and usage window; it does not sum multi-format deliverables.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server/llm.js uses OpenAI Chat Completions with gpt-4o-mini and a 10-second timeout. server/prompts.js sets the extraction and response constraints. server/index.js validates fields and falls back. Inbox email text is sent to OpenAI only when configured; the assistant sends the question and a bounded workspace summary. No AI provider is configured during this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Reach values are from server/data/db.json. The mean of the three seeded food posts is 78,000; the single beauty post is 11,000. This is demo fixture data only, not connected social analytics.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and product limits are stated in README.md. Data shown in the prototype is seeded fixture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 model is `creator`, `deals[]`, `posts[]` in server/data/db.json. Optional Supabase stores the whole state in a singleton JSONB row; see the migration. This is not relational, normalized or multi-tenant.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Backend choices verified in server/index.js, server/store.js, server/supabase-store.js, and supabase/migrations/202610230001_collabdesk_state.sql. CORS and loopback binding are defense-in-depth for local development, not authentication.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At time of generation, npm test returned 10 passed, 0 failed; npm run build passed with Vite 6.4.5. The backend suite does not verify the browser UI. No external model or live Supabase credentials were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Next steps are proposed roadmap items, not current capabilities. Ask: feedback and pilot conversations to test the workflow.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proposed pilot measures, not measured outcomes. The ask is for creator feedback and pilot conversations.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Route inventory is from server/index.js and docs/architecture/api-flow.md. A Vercel-style handler adapter lives in api/, but deployment is not 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paths and imports were checked. src/lib/collab/engine.ts defines separate parse/quote/draft/insight/fit-score helpers, but the current React app imports src/api.js and the backend; the TypeScript engine is not wired into the active UI and should not be presented as a live feature.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883c8922f04aa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8b8dc0cea94f5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21bd6cfa064b5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4fa592c8cc434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0181d06bfe490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f4ecf018d74f2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F93FA42-5702-4E27-A118-AC37F1B7AD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A5E3866-CF80-40C9-8C7F-1061EAD68A4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5B7433B-7359-4DBA-9574-0F29457A6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D2E1C79-754F-4805-B4E5-CDCEA78AA2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DF31E25-8504-4BB1-80AD-AADAF1193DF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108B8EF-BABE-4E1B-98A9-BD11AFE454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15A7748-A3BE-4C7F-AEF9-57E2684C748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040264E-B5C0-4042-A66B-7DE0AE3D266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379BB77-D832-40C3-B72F-7FAD16A34B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887E4CA-0DE0-46E4-A667-F273BBED067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6eff01c14c947e4" /><Relationship Type="http://schemas.openxmlformats.org/officeDocument/2006/relationships/slideLayout" Target="/ppt/slideLayouts/slideLayout1.xml" Id="R31f49f00d1f24a04" /><Relationship Type="http://schemas.openxmlformats.org/officeDocument/2006/relationships/slideLayout" Target="/ppt/slideLayouts/slideLayout2.xml" Id="R1e5109b4446c42f8" /><Relationship Type="http://schemas.openxmlformats.org/officeDocument/2006/relationships/slideLayout" Target="/ppt/slideLayouts/slideLayout3.xml" Id="R000b9dc45a1647cc" /><Relationship Type="http://schemas.openxmlformats.org/officeDocument/2006/relationships/slideLayout" Target="/ppt/slideLayouts/slideLayout4.xml" Id="R67c12e6389ba46f7" /><Relationship Type="http://schemas.openxmlformats.org/officeDocument/2006/relationships/slideLayout" Target="/ppt/slideLayouts/slideLayout5.xml" Id="R5860316037b84b05" /><Relationship Type="http://schemas.openxmlformats.org/officeDocument/2006/relationships/slideLayout" Target="/ppt/slideLayouts/slideLayout6.xml" Id="R30c8a935263540f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1f49f00d1f24a04"/>
    <p:sldLayoutId xmlns:r="http://schemas.openxmlformats.org/officeDocument/2006/relationships" id="2147483650" r:id="R1e5109b4446c42f8"/>
    <p:sldLayoutId xmlns:r="http://schemas.openxmlformats.org/officeDocument/2006/relationships" id="2147483651" r:id="R000b9dc45a1647cc"/>
    <p:sldLayoutId xmlns:r="http://schemas.openxmlformats.org/officeDocument/2006/relationships" id="2147483652" r:id="R67c12e6389ba46f7"/>
    <p:sldLayoutId xmlns:r="http://schemas.openxmlformats.org/officeDocument/2006/relationships" id="2147483653" r:id="R5860316037b84b05"/>
    <p:sldLayoutId xmlns:r="http://schemas.openxmlformats.org/officeDocument/2006/relationships" id="2147483654" r:id="R30c8a935263540f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147ed627bb4712" /><Relationship Type="http://schemas.openxmlformats.org/officeDocument/2006/relationships/notesSlide" Target="/ppt/notesSlides/notesSlide1.xml" Id="R9f8e0a9c0f1b473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24ed84b83742c2" /><Relationship Type="http://schemas.openxmlformats.org/officeDocument/2006/relationships/notesSlide" Target="/ppt/notesSlides/notesSlide2.xml" Id="R421a85efe39545d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ccbc66911a48b4" /><Relationship Type="http://schemas.openxmlformats.org/officeDocument/2006/relationships/notesSlide" Target="/ppt/notesSlides/notesSlide3.xml" Id="R8ca9a9b380cb4d1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07c4db52264264" /><Relationship Type="http://schemas.openxmlformats.org/officeDocument/2006/relationships/notesSlide" Target="/ppt/notesSlides/notesSlide4.xml" Id="R9f6360a55cd1456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24cf4dbe994070" /><Relationship Type="http://schemas.openxmlformats.org/officeDocument/2006/relationships/notesSlide" Target="/ppt/notesSlides/notesSlide5.xml" Id="Rd28e38419135422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d886a269cd457a" /><Relationship Type="http://schemas.openxmlformats.org/officeDocument/2006/relationships/notesSlide" Target="/ppt/notesSlides/notesSlide6.xml" Id="Reb7fd15baa78425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8b91f303804ab4" /><Relationship Type="http://schemas.openxmlformats.org/officeDocument/2006/relationships/notesSlide" Target="/ppt/notesSlides/notesSlide7.xml" Id="R20edbbbfcd094ba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b2842cd529447f" /><Relationship Type="http://schemas.openxmlformats.org/officeDocument/2006/relationships/notesSlide" Target="/ppt/notesSlides/notesSlide8.xml" Id="R306885445ece460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1d79c6884b4480" /><Relationship Type="http://schemas.openxmlformats.org/officeDocument/2006/relationships/notesSlide" Target="/ppt/notesSlides/notesSlide9.xml" Id="Re604da510a6e4b1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120b9e1b93425c" /><Relationship Type="http://schemas.openxmlformats.org/officeDocument/2006/relationships/notesSlide" Target="/ppt/notesSlides/notesSlide10.xml" Id="Rdadd862e04ac4ad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664b85092e4857" /><Relationship Type="http://schemas.openxmlformats.org/officeDocument/2006/relationships/notesSlide" Target="/ppt/notesSlides/notesSlide11.xml" Id="R1b3b09a0ffe94ed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1c6b93caea4ccd" /><Relationship Type="http://schemas.openxmlformats.org/officeDocument/2006/relationships/notesSlide" Target="/ppt/notesSlides/notesSlide12.xml" Id="Rccaa1741a97e477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9744d9694d48b7" /><Relationship Type="http://schemas.openxmlformats.org/officeDocument/2006/relationships/notesSlide" Target="/ppt/notesSlides/notesSlide13.xml" Id="Rd220e9ecc74e443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804f2ef49e46c6" /><Relationship Type="http://schemas.openxmlformats.org/officeDocument/2006/relationships/notesSlide" Target="/ppt/notesSlides/notesSlide14.xml" Id="R7f35180214e847e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7f352eb3c2461e" /><Relationship Type="http://schemas.openxmlformats.org/officeDocument/2006/relationships/notesSlide" Target="/ppt/notesSlides/notesSlide15.xml" Id="R7aeba58833e7415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c6336f0bca4f7a" /><Relationship Type="http://schemas.openxmlformats.org/officeDocument/2006/relationships/notesSlide" Target="/ppt/notesSlides/notesSlide16.xml" Id="R15da043577c9419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9d7e34e2dd4c7b" /><Relationship Type="http://schemas.openxmlformats.org/officeDocument/2006/relationships/notesSlide" Target="/ppt/notesSlides/notesSlide17.xml" Id="Ra88045def5c64b8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8f91c4016447ab" /><Relationship Type="http://schemas.openxmlformats.org/officeDocument/2006/relationships/notesSlide" Target="/ppt/notesSlides/notesSlide18.xml" Id="Rccaed48ca076427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32f581532e4272" /><Relationship Type="http://schemas.openxmlformats.org/officeDocument/2006/relationships/notesSlide" Target="/ppt/notesSlides/notesSlide19.xml" Id="R018d51e3b58c448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87a575cf5a4f60" /><Relationship Type="http://schemas.openxmlformats.org/officeDocument/2006/relationships/notesSlide" Target="/ppt/notesSlides/notesSlide20.xml" Id="R4f09c9e3d60c4c8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20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F133C3-89A4-485C-AB79-66A63C1F3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800100"/>
            <a:ext cx="2324100" cy="2324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C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FC88BE-F739-49E0-8679-56BC3E0F7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209925"/>
            <a:ext cx="1085850" cy="1085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F3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220A65-CE5C-4F37-ACE0-60EB45DAE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421957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9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970F18-C58C-417F-82AA-7666C8ABD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62125"/>
            <a:ext cx="2095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F21B9D-FA8C-4583-94E1-FC23B5B48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38350"/>
            <a:ext cx="15240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2E4534-00EB-48E8-89C6-ECFC015DE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14575"/>
            <a:ext cx="18669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E8F71F-9A49-4AC7-A32B-DDC82690D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8F36B"/>
                </a:solidFill>
                <a:latin typeface="Arial"/>
                <a:ea typeface="Arial"/>
                <a:cs typeface="Arial"/>
              </a:rPr>
              <a:t>HACKATHON PITCH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789FBA-8D97-4078-B554-DD7770AF4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68580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87000"/>
              </a:lnSpc>
              <a:buNone/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Collab</a:t>
            </a:r>
          </a:p>
          <a:p xmlns:a="http://schemas.openxmlformats.org/drawingml/2006/main">
            <a:pPr algn="l">
              <a:lnSpc>
                <a:spcPct val="87000"/>
              </a:lnSpc>
              <a:buNone/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Desk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AAB0E7-7E79-4695-BB8E-A1D43CE98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86175"/>
            <a:ext cx="657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E4E8EF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E4E8EF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E4E8EF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E4E8EF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E4E8EF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E4E8EF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E4E8EF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E4E8EF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E4E8EF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E4E8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E4E8E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4E8EF"/>
                </a:solidFill>
                <a:latin typeface="Arial"/>
                <a:ea typeface="Arial"/>
                <a:cs typeface="Arial"/>
              </a:rPr>
              <a:t>Make every brand inquiry a better deal.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AC3BBC-0019-48FE-BCC7-7B8C1352C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33925"/>
            <a:ext cx="2543175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A35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649799-D555-4267-9EB3-0D197287F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00600"/>
            <a:ext cx="2314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CREATOR × BRAND WORKFLOW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92722F-CE96-494B-87BE-BC622BC0C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91150"/>
            <a:ext cx="657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8F36B"/>
                </a:solidFill>
                <a:latin typeface="Arial"/>
                <a:ea typeface="Arial"/>
                <a:cs typeface="Arial"/>
              </a:rPr>
              <a:t>Attraction → Motion → Transformation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89B04C-BB4C-4BBC-85A0-189D430F3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B9C2D0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B9C2D0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B9C2D0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B9C2D0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B9C2D0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B9C2D0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B9C2D0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B9C2D0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B9C2D0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B9C2D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B9C2D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9C2D0"/>
                </a:solidFill>
                <a:latin typeface="Arial"/>
                <a:ea typeface="Arial"/>
                <a:cs typeface="Arial"/>
              </a:rPr>
              <a:t>A creator-first desk for turning inbound emails into clear, reviewable partnership decisions.</a:t>
            </a:r>
          </a:p>
        </p:txBody>
      </p:sp>
    </p:spTree>
    <p:extLst>
      <p:ext uri="{BB962C8B-B14F-4D97-AF65-F5344CB8AC3E}">
        <p14:creationId xmlns:p14="http://schemas.microsoft.com/office/powerpoint/2010/main" val="18171005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720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65FD72-CB93-4DCB-9309-AC1AA6672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5CBD5"/>
                </a:solidFill>
                <a:latin typeface="Arial"/>
                <a:ea typeface="Arial"/>
                <a:cs typeface="Arial"/>
              </a:rPr>
              <a:t>COLLABDESK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88B207A-32CA-43A2-81C0-E09581054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5CBD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42ED61-2653-47A4-9C04-A9C63C69C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F36B"/>
                </a:solidFill>
                <a:latin typeface="Arial"/>
                <a:ea typeface="Arial"/>
                <a:cs typeface="Arial"/>
              </a:rPr>
              <a:t>THE HOOK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57AEB0-572B-43D3-BF84-953F68BC8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695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96000"/>
              </a:lnSpc>
              <a:buNone/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₹8,000 for a reel?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60C311-279E-473C-9261-091A2EAF1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00300"/>
            <a:ext cx="72390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5CBD5"/>
                </a:solidFill>
                <a:latin typeface="Arial"/>
                <a:ea typeface="Arial"/>
                <a:cs typeface="Arial"/>
              </a:rPr>
              <a:t>The offer looks simple. The terms around it are not.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EB2A78-756E-43DE-B179-D5BF265FD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028700"/>
            <a:ext cx="3048000" cy="31623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202C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6F0648-1810-44FE-9901-1734F12E4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266825"/>
            <a:ext cx="1828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3441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735204-A58F-4384-94A3-41A00C0E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333500"/>
            <a:ext cx="1600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CAFE RAMWADI · DEMO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A672E1-CAD8-4DF2-B243-CFB518101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050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5CBD5"/>
                </a:solidFill>
                <a:latin typeface="Arial"/>
                <a:ea typeface="Arial"/>
                <a:cs typeface="Arial"/>
              </a:rPr>
              <a:t>Offer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8DAC54-8AED-44A7-B700-4207B2EB6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38375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330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26C4F"/>
                </a:solidFill>
                <a:latin typeface="Arial"/>
                <a:ea typeface="Arial"/>
                <a:cs typeface="Arial"/>
              </a:rPr>
              <a:t>₹8,000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884B4C-1BB0-48F0-97AA-92EF2AA3D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3847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5CBD5"/>
                </a:solidFill>
                <a:latin typeface="Arial"/>
                <a:ea typeface="Arial"/>
                <a:cs typeface="Arial"/>
              </a:rPr>
              <a:t>Creator reel rate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651EFF-FAAB-4C2C-9089-ECE147BD3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3375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₹15,000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F97B17-A706-4A46-8B25-DAD2B94A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C8F36B"/>
                </a:solidFill>
                <a:latin typeface="Arial"/>
                <a:ea typeface="Arial"/>
                <a:cs typeface="Arial"/>
              </a:rPr>
              <a:t>One email can hide a ₹7,000 gap before you even discuss usage.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E68FFB-3B2B-4CED-88A8-3BAB99388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62575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5CBD5"/>
                </a:solidFill>
                <a:latin typeface="Arial"/>
                <a:ea typeface="Arial"/>
                <a:cs typeface="Arial"/>
              </a:rPr>
              <a:t>A concrete demo case from the project fixtures—not a market statistic.</a:t>
            </a:r>
          </a:p>
        </p:txBody>
      </p:sp>
    </p:spTree>
    <p:extLst>
      <p:ext uri="{BB962C8B-B14F-4D97-AF65-F5344CB8AC3E}">
        <p14:creationId xmlns:p14="http://schemas.microsoft.com/office/powerpoint/2010/main" val="19286481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D140F3-00C7-455F-8372-6F4F59FF2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97386"/>
                </a:solidFill>
                <a:latin typeface="Arial"/>
                <a:ea typeface="Arial"/>
                <a:cs typeface="Arial"/>
              </a:rPr>
              <a:t>COLLABDESK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5D025A3-69D8-4E70-8C75-65CA9128A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9738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D392DD-E200-45C5-8DDC-E51BB954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26C4F"/>
                </a:solidFill>
                <a:latin typeface="Arial"/>
                <a:ea typeface="Arial"/>
                <a:cs typeface="Arial"/>
              </a:rPr>
              <a:t>THE GAP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78C4B8-0081-4F49-AD6B-4AC37202B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38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98000"/>
              </a:lnSpc>
              <a:buNone/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 brand email starts a workflow, not a partnership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796CEE-5EB1-4939-81A0-4E7EBC44F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962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Creators still have to turn scattered details into decisions and follow-ups.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745517-777C-47F4-97CA-3BF3903B1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33337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96F5E1-282B-446E-B942-CCC7BDD4A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0040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26C4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03E948-752E-4337-9583-C06DCE50A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14750"/>
            <a:ext cx="2809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97386"/>
                </a:solidFill>
                <a:latin typeface="Arial"/>
                <a:ea typeface="Arial"/>
                <a:cs typeface="Arial"/>
              </a:rPr>
              <a:t>INQUIRIES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F34589-4B45-44E8-8D6C-511B3452E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71950"/>
            <a:ext cx="2781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Terms arrive in free-form messages.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8FC289-57FF-49A8-B97B-0F184A5F6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95875"/>
            <a:ext cx="4191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F3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797F6D-9AC8-4770-B3E1-3B040673C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990850"/>
            <a:ext cx="33337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CE1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6B6D30-AF14-4996-92FA-44E4FFF38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20040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26C4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7CB841-D56E-4C14-A705-AE0CCC858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714750"/>
            <a:ext cx="2809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97386"/>
                </a:solidFill>
                <a:latin typeface="Arial"/>
                <a:ea typeface="Arial"/>
                <a:cs typeface="Arial"/>
              </a:rPr>
              <a:t>DECISIONS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BCA357-05EA-4631-9FCE-1CDBEDE39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171950"/>
            <a:ext cx="2781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Budget, deliverables and usage are easy to miss.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27108C-0F33-404F-AC50-6229A7E0E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095875"/>
            <a:ext cx="4191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C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5A5258-0865-4E04-A59F-D4A0398F6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990850"/>
            <a:ext cx="33337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401920-6A74-4092-AEBB-BD834E838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20040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26C4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A5E921-E6E8-4A41-B10C-92AAF103A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714750"/>
            <a:ext cx="2809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97386"/>
                </a:solidFill>
                <a:latin typeface="Arial"/>
                <a:ea typeface="Arial"/>
                <a:cs typeface="Arial"/>
              </a:rPr>
              <a:t>FOLLOW-THROUGH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E9D5E5-2F7F-4EEE-BAC8-C8B0C6605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171950"/>
            <a:ext cx="2781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Replies and payment follow-ups compete with making content.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69D80F-77A5-40E1-860F-6B3AB5AB9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095875"/>
            <a:ext cx="4191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F3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FBBD18-82F5-4973-8BB7-864C44FFB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7692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The opportunity: make the business side feel as manageable as the creative side.</a:t>
            </a:r>
          </a:p>
        </p:txBody>
      </p:sp>
    </p:spTree>
    <p:extLst>
      <p:ext uri="{BB962C8B-B14F-4D97-AF65-F5344CB8AC3E}">
        <p14:creationId xmlns:p14="http://schemas.microsoft.com/office/powerpoint/2010/main" val="21004409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720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6C744E-11EE-483C-AEE4-82D14BCC8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5CBD5"/>
                </a:solidFill>
                <a:latin typeface="Arial"/>
                <a:ea typeface="Arial"/>
                <a:cs typeface="Arial"/>
              </a:rPr>
              <a:t>COLLABDESK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7A1BB3F-3B43-4F20-B850-E584EB812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5CBD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F8200A-27C9-40F7-BB79-B37DF964C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F36B"/>
                </a:solidFill>
                <a:latin typeface="Arial"/>
                <a:ea typeface="Arial"/>
                <a:cs typeface="Arial"/>
              </a:rPr>
              <a:t>CREATOR PROFILE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8594DF-D4BC-4B9C-B1A9-B9665CA3E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38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98000"/>
              </a:lnSpc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Aanya’s workspace gives every deal useful context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AC04A0-6B73-4DB0-9905-8652915FA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962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5CBD5"/>
                </a:solidFill>
                <a:latin typeface="Arial"/>
                <a:ea typeface="Arial"/>
                <a:cs typeface="Arial"/>
              </a:rPr>
              <a:t>The demo is configured for one Pune-based food and city-life creator.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76BAC7-278D-40BE-9BCC-D8D007ABF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24175"/>
            <a:ext cx="1371600" cy="1371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C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5C15FA-AA92-4B3F-BACD-52F2BD44F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62325"/>
            <a:ext cx="1371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451"/>
          </a:bodyPr>
          <a:lstStyle xmlns:a="http://schemas.openxmlformats.org/drawingml/2006/main">
            <a:defPPr algn="ctr"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D2403C-F66B-4337-855E-64A2E4F75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000375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Aanya Kulkarni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3E56BE-526C-4FFF-BEEB-7C1E523C3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47662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5CBD5"/>
                </a:solidFill>
                <a:latin typeface="Arial"/>
                <a:ea typeface="Arial"/>
                <a:cs typeface="Arial"/>
              </a:rPr>
              <a:t>@aanya.eats.pune   ·   Pune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7DF902-975F-4E08-B5D7-9FA4CF073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924300"/>
            <a:ext cx="1781175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A35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42D44B-C739-4A96-863C-516422232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990975"/>
            <a:ext cx="1552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8F36B"/>
                </a:solidFill>
                <a:latin typeface="Arial"/>
                <a:ea typeface="Arial"/>
                <a:cs typeface="Arial"/>
              </a:rPr>
              <a:t>48,000 FOLLOWERS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6FFBF1-CF5B-4B07-8EFE-8ED14903D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956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F36B"/>
                </a:solidFill>
                <a:latin typeface="Arial"/>
                <a:ea typeface="Arial"/>
                <a:cs typeface="Arial"/>
              </a:rPr>
              <a:t>RATE CARD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882C3C-8F41-497D-9682-DE29DC8FE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38500"/>
            <a:ext cx="39243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202C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217051-056C-4094-8C88-D7DFC4A27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38500"/>
            <a:ext cx="762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C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7C016E-34D6-4B81-921F-CF9652BD4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362325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5CBD5"/>
                </a:solidFill>
                <a:latin typeface="Arial"/>
                <a:ea typeface="Arial"/>
                <a:cs typeface="Arial"/>
              </a:rPr>
              <a:t>REEL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7FFC77-C73E-457B-8C83-13B488D48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314700"/>
            <a:ext cx="1466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₹15,000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49A528-E95E-4FE9-ABEC-BC87D8B41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52850"/>
            <a:ext cx="39243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202C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608DF2-A76C-4B8D-B0EF-2AFB3C9A2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52850"/>
            <a:ext cx="762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69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D6772A-5B33-4E68-AF20-CF337533D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876675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5CBD5"/>
                </a:solidFill>
                <a:latin typeface="Arial"/>
                <a:ea typeface="Arial"/>
                <a:cs typeface="Arial"/>
              </a:rPr>
              <a:t>POST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E2BD3D-B0CA-4362-83DD-FD6F5ABCB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829050"/>
            <a:ext cx="1466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₹8,000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3E62DC-A2A2-4B33-9A40-6F6B3EAB4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67200"/>
            <a:ext cx="39243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202C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D6B441-1EE0-4B37-994E-E584A1251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67200"/>
            <a:ext cx="762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F3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D4FD31-537E-4882-9500-9CAE2CEFC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391025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5CBD5"/>
                </a:solidFill>
                <a:latin typeface="Arial"/>
                <a:ea typeface="Arial"/>
                <a:cs typeface="Arial"/>
              </a:rPr>
              <a:t>STORIES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084049-A148-43E5-8FB2-D40BE4B3A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343400"/>
            <a:ext cx="1466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₹4,000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BB3C19-E807-4665-B40E-A5B97D186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104394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202C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F7E72B-F4BB-4076-A7A4-338D28A3B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72075"/>
            <a:ext cx="2038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8F36B"/>
                </a:solidFill>
                <a:latin typeface="Arial"/>
                <a:ea typeface="Arial"/>
                <a:cs typeface="Arial"/>
              </a:rPr>
              <a:t>CREATOR GUARDRAILS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E8087A-361F-4073-A7D9-F04F48375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38775"/>
            <a:ext cx="975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No competing café in the same month  ·  30-day usage included  ·  Longer usage adds 40%</a:t>
            </a:r>
          </a:p>
        </p:txBody>
      </p:sp>
    </p:spTree>
    <p:extLst>
      <p:ext uri="{BB962C8B-B14F-4D97-AF65-F5344CB8AC3E}">
        <p14:creationId xmlns:p14="http://schemas.microsoft.com/office/powerpoint/2010/main" val="14958018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C966DC-3F67-4377-B1B2-4391AB031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97386"/>
                </a:solidFill>
                <a:latin typeface="Arial"/>
                <a:ea typeface="Arial"/>
                <a:cs typeface="Arial"/>
              </a:rPr>
              <a:t>COLLABDESK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05377AF-03B2-4CF8-B37D-EBF0F486E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9738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90FA21-F644-499D-B744-E805395DC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26C4F"/>
                </a:solidFill>
                <a:latin typeface="Arial"/>
                <a:ea typeface="Arial"/>
                <a:cs typeface="Arial"/>
              </a:rPr>
              <a:t>THE MANUAL GAP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8C7470-A3B3-4DED-905C-F0DE1BF23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38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658"/>
          </a:bodyPr>
          <a:lstStyle xmlns:a="http://schemas.openxmlformats.org/drawingml/2006/main">
            <a:def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98000"/>
              </a:lnSpc>
              <a:buNone/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Email gives you the conversation, but not the whole workflow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35D7DD-9FAE-40EB-85A4-207048D2F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962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CollabDesk organizes the details that the creator must evaluate and track.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9A2362-D58B-4C27-80E2-2B8F93ABD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4724400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E9E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81825E-69D3-4740-A9CF-D248C94C0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81350"/>
            <a:ext cx="15049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458E51-DEF0-4C6C-9EFC-2591367DD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48025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EMAIL-ONLY FLOW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2E8641-64AF-400A-AC56-69485FD3E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714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F2796F-5269-4EF1-8C02-DFD70CE46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57600"/>
            <a:ext cx="3876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Re-read the thread to find terms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E1A42A-EA47-4653-998E-A95DC7CC9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133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52F9D6-A870-4BEB-BD8C-435CCF370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76700"/>
            <a:ext cx="3876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Recall the right rate and usage rule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2DE1E4-6828-4820-B5F5-F4D7A4108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552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8E25DC-CCCA-44AA-89A3-1C26415B6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95800"/>
            <a:ext cx="3876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Draft each response from scratch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42CCD5-59B0-40F2-861B-7D13CE8B6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972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396A35-57B9-48BD-8F30-6824FBFAB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914900"/>
            <a:ext cx="3876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Remember which deal needs follow-up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DB6423-669A-4E20-9F03-74914F89F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952750"/>
            <a:ext cx="4791075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1D617F-77AF-4EB9-BDF0-AD31202B2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3181350"/>
            <a:ext cx="18859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C8F3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E62A84-8E61-42AA-9802-9BE43D496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3248025"/>
            <a:ext cx="1657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COLLABDESK PROTOTYPE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8048E9-AA54-4845-8E88-9ECE5D74F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3714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F3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FF2505-8A6F-4BD1-802B-1451216C5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657600"/>
            <a:ext cx="396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Extract a structured deal record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1477CF-21C7-41F1-B62C-C1F44D1C3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133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C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629478-91F7-4852-8DEA-532A9C8FA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076700"/>
            <a:ext cx="396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Compare offer with saved rate rules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C54B04-3F5B-4BBF-BAC8-052984A06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552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F3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4348D7-8B06-44DA-B619-F5DD9D2CB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495800"/>
            <a:ext cx="396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Draft a reply for creator review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8F751F-7DA3-4034-8791-B4BF29691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972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F3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F5EDBC-86BC-4D10-A21E-9D279091C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914900"/>
            <a:ext cx="396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Keep basic deal stages and next actions visible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987BB3-EBC9-490E-8419-2F21DA7E0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76925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97386"/>
                </a:solidFill>
                <a:latin typeface="Arial"/>
                <a:ea typeface="Arial"/>
                <a:cs typeface="Arial"/>
              </a:rPr>
              <a:t>Workflow comparison only. This is not a competitor study or measured time-saving claim.</a:t>
            </a:r>
          </a:p>
        </p:txBody>
      </p:sp>
    </p:spTree>
    <p:extLst>
      <p:ext uri="{BB962C8B-B14F-4D97-AF65-F5344CB8AC3E}">
        <p14:creationId xmlns:p14="http://schemas.microsoft.com/office/powerpoint/2010/main" val="11443821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720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C385C4-BBA8-456D-BECC-A25FF0B82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5CBD5"/>
                </a:solidFill>
                <a:latin typeface="Arial"/>
                <a:ea typeface="Arial"/>
                <a:cs typeface="Arial"/>
              </a:rPr>
              <a:t>COLLABDESK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20433F9-2AD6-418F-9170-5FB3ED304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5CBD5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43E564-B633-42E2-B361-A13927F08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F36B"/>
                </a:solidFill>
                <a:latin typeface="Arial"/>
                <a:ea typeface="Arial"/>
                <a:cs typeface="Arial"/>
              </a:rPr>
              <a:t>PRODUCT IDEA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D10B1E-FC34-442F-94D1-8CD035842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38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98000"/>
              </a:lnSpc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Attraction → Motion → Transformation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100828-41F4-4BD4-B7C5-4D20C72A7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962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5CBD5"/>
                </a:solidFill>
                <a:latin typeface="Arial"/>
                <a:ea typeface="Arial"/>
                <a:cs typeface="Arial"/>
              </a:rPr>
              <a:t>One desk that helps creators find fit, move faster, and protect the value of each deal.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2BEA47-71E6-44FC-8240-D5D3DE0F6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C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0143A0-89CF-4703-9A1F-9256F1687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77BA8C-A631-48BA-97F1-3CD98E31F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76675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26C4F"/>
                </a:solidFill>
                <a:latin typeface="Arial"/>
                <a:ea typeface="Arial"/>
                <a:cs typeface="Arial"/>
              </a:rPr>
              <a:t>ATTRACT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B83789-FEE7-4872-90DC-075D3CF35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3000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Find the right fit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34C228-72BE-41FF-8877-C7CD96D3F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3000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5CBD5"/>
                </a:solidFill>
                <a:latin typeface="Arial"/>
                <a:ea typeface="Arial"/>
                <a:cs typeface="Arial"/>
              </a:rPr>
              <a:t>Use creator context and content patterns to focus on partnerships that make sense.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504571-06AB-4095-9291-A7FF8CFF6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276600"/>
            <a:ext cx="78105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651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FB813A-E651-4DBE-9A1E-66B02AE71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099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9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754D22-6B10-4E6B-BB2D-1CB6FE7F1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194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DBCFB0-FB96-44C3-81EA-48BA66B9E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76675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7695FF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7695FF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7695FF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7695FF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7695FF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7695FF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7695FF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7695FF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7695FF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769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7695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695FF"/>
                </a:solidFill>
                <a:latin typeface="Arial"/>
                <a:ea typeface="Arial"/>
                <a:cs typeface="Arial"/>
              </a:rPr>
              <a:t>MOTION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5539C3-4D72-45D4-94E2-99044EACA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000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Move the deal forward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E3EE1A-7D6F-4B92-A022-85E55C59F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781550"/>
            <a:ext cx="3000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5CBD5"/>
                </a:solidFill>
                <a:latin typeface="Arial"/>
                <a:ea typeface="Arial"/>
                <a:cs typeface="Arial"/>
              </a:rPr>
              <a:t>Turn an email into a deal card, compare the offer with the rate card, draft a reply.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A1FFCE-F7B2-43BA-9F42-BF2280680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276600"/>
            <a:ext cx="78105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651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F9BC2B-DB80-4EFF-8B59-63436EA63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099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F3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A4AF1F-9EC9-460E-B937-1828A55FF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194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13C39E-F3D7-4860-8540-57DFB8719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876675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F36B"/>
                </a:solidFill>
                <a:latin typeface="Arial"/>
                <a:ea typeface="Arial"/>
                <a:cs typeface="Arial"/>
              </a:rPr>
              <a:t>TRANSFORMATION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EABFDC-A6FE-4E91-B6B2-117F1E200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267200"/>
            <a:ext cx="3000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Build a better business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3C70FB-D909-484D-8EB7-350EB6635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781550"/>
            <a:ext cx="3000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5CBD5"/>
                </a:solidFill>
                <a:latin typeface="Arial"/>
                <a:ea typeface="Arial"/>
                <a:cs typeface="Arial"/>
              </a:rPr>
              <a:t>Keep terms, status and follow-ups visible so creators can make deliberate choices.</a:t>
            </a:r>
          </a:p>
        </p:txBody>
      </p:sp>
    </p:spTree>
    <p:extLst>
      <p:ext uri="{BB962C8B-B14F-4D97-AF65-F5344CB8AC3E}">
        <p14:creationId xmlns:p14="http://schemas.microsoft.com/office/powerpoint/2010/main" val="80175167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9A0799C-1CEE-446C-A7CB-84FFAF93F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97386"/>
                </a:solidFill>
                <a:latin typeface="Arial"/>
                <a:ea typeface="Arial"/>
                <a:cs typeface="Arial"/>
              </a:rPr>
              <a:t>COLLABDESK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311F080-19B7-469F-9FFE-BDF75E89D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9738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5364BB-5892-4679-AA46-06CDE3A39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26C4F"/>
                </a:solidFill>
                <a:latin typeface="Arial"/>
                <a:ea typeface="Arial"/>
                <a:cs typeface="Arial"/>
              </a:rPr>
              <a:t>WORKSPACE 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56549B-147D-4EEC-B6D0-83DD52ECD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38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98000"/>
              </a:lnSpc>
              <a:buNone/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Five views keep the creator’s work in one place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E77E85-8656-40A1-9D31-50B4F0F9D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962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Each view serves one step in the creator-brand collaboration cycle.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2EE285-D255-4709-ADCC-DF22EDB05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33147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F9EDBA-D240-4D78-BAA9-C98809753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66675" cy="1333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C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FC8977-1140-4665-9FC7-1809B4A47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67050"/>
            <a:ext cx="4381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26C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8A8822-B5E0-4F76-8669-1FC263B5C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33725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D4902E-074C-4A05-9DB9-15F0B1820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114675"/>
            <a:ext cx="23241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97386"/>
                </a:solidFill>
                <a:latin typeface="Arial"/>
                <a:ea typeface="Arial"/>
                <a:cs typeface="Arial"/>
              </a:rPr>
              <a:t>TODAY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A10027-AE23-43FE-B167-4AC9E5D33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52825"/>
            <a:ext cx="289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Next actions, deal counts and follow-ups.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CB0033-A95E-4890-B67E-C6443E8C3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876550"/>
            <a:ext cx="33147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6D6842-EB1A-482B-9DC9-73448A5D5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876550"/>
            <a:ext cx="66675" cy="1333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69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F32B47-FA2F-4D4F-A111-4319A2F74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067050"/>
            <a:ext cx="4381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769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C87C71-CBA4-4E1D-971D-ED4968531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33725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92FE75-DE92-4583-BDEE-11D26F577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114675"/>
            <a:ext cx="23241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97386"/>
                </a:solidFill>
                <a:latin typeface="Arial"/>
                <a:ea typeface="Arial"/>
                <a:cs typeface="Arial"/>
              </a:rPr>
              <a:t>INBOX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7C5D81-AC40-4C1A-8771-5774A8944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552825"/>
            <a:ext cx="289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Paste a brand email and extract its terms.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DE5481-6272-4FCE-90B6-00D6E091D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76550"/>
            <a:ext cx="33147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C59AED-640D-4CE3-B670-FD76E9F6D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76550"/>
            <a:ext cx="66675" cy="1333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F3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B0160C-0102-4C81-B162-728C3AF46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67050"/>
            <a:ext cx="4381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C8F3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3FFF5C-22F8-4D15-8497-19A9AC16F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33725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29FF0D-94EA-4247-BD1D-C1761D78E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114675"/>
            <a:ext cx="23241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97386"/>
                </a:solidFill>
                <a:latin typeface="Arial"/>
                <a:ea typeface="Arial"/>
                <a:cs typeface="Arial"/>
              </a:rPr>
              <a:t>DEALS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450F13-F649-44F3-8683-9D8C01A35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552825"/>
            <a:ext cx="289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Track offers through paid and posted stages.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65AA98-A0F6-487D-8D4B-B4B7E30F1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533900"/>
            <a:ext cx="33147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1C15E1-A067-45DF-836F-954BC5A72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533900"/>
            <a:ext cx="66675" cy="1333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F3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453DA7-C33B-4473-A56F-01A099473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724400"/>
            <a:ext cx="4381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C8F3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664BC0-9EAA-4988-A16D-1F97B031C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791075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B65623-BEE2-4F9C-B70B-AD58E0700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772025"/>
            <a:ext cx="23241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97386"/>
                </a:solidFill>
                <a:latin typeface="Arial"/>
                <a:ea typeface="Arial"/>
                <a:cs typeface="Arial"/>
              </a:rPr>
              <a:t>CONTENT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FD11C5-90B4-414B-8DDB-201B10478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210175"/>
            <a:ext cx="289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Review reach and saves from workspace data.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A405508-7CE9-4AA9-9AFF-EAD96141B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533900"/>
            <a:ext cx="33147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C15073-694E-4843-BFFE-CB13F095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533900"/>
            <a:ext cx="66675" cy="1333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C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E6444AE-0400-4665-B2A7-0926F56E0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724400"/>
            <a:ext cx="4381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26C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4C726F0-2F7F-41AD-A3CF-ECCB6C638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791075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457FEC5-579B-4133-A45C-EE1B9275E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772025"/>
            <a:ext cx="23241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97386"/>
                </a:solidFill>
                <a:latin typeface="Arial"/>
                <a:ea typeface="Arial"/>
                <a:cs typeface="Arial"/>
              </a:rPr>
              <a:t>MEDIA KIT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38812F1-00A4-4F59-AF32-6884054BA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210175"/>
            <a:ext cx="289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Maintain creator niche, audience and rates.</a:t>
            </a:r>
          </a:p>
        </p:txBody>
      </p:sp>
    </p:spTree>
    <p:extLst>
      <p:ext uri="{BB962C8B-B14F-4D97-AF65-F5344CB8AC3E}">
        <p14:creationId xmlns:p14="http://schemas.microsoft.com/office/powerpoint/2010/main" val="27865522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0B97C2E-F496-49ED-8DC3-8DD949848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97386"/>
                </a:solidFill>
                <a:latin typeface="Arial"/>
                <a:ea typeface="Arial"/>
                <a:cs typeface="Arial"/>
              </a:rPr>
              <a:t>COLLABDESK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9DAEEBC-342B-4744-A394-6976FF4BA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9738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B140BF-20BA-42AC-92DA-CEBD495AE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26C4F"/>
                </a:solidFill>
                <a:latin typeface="Arial"/>
                <a:ea typeface="Arial"/>
                <a:cs typeface="Arial"/>
              </a:rPr>
              <a:t>WHAT WORKS TODAY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40662E-4F49-4EC6-A372-5ACC03BE3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38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98000"/>
              </a:lnSpc>
              <a:buNone/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 small prototype with a complete deal loop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582FA8-C9CC-4D2D-8294-0C5B16C5A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962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The demo follows an inquiry through parsing, pricing, reply drafting and follow-up.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DDC30D-E507-45E9-B878-D76FDB0EF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98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EEC849-6894-4F7A-80C1-62514FBD1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0512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353FCE-5803-4715-BFEF-11CDE1D87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28575" cy="2762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D8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FD5074-833B-4AC7-842C-732650234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8289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Capture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A09436-5BAB-4E80-8C1A-FE2D857BE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828925"/>
            <a:ext cx="7429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Paste an email into the inbox.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2D943A-FD90-48F2-89D6-3B0E387B4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01267B-B50B-4A35-AA48-B01AF081F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34D74C-FA84-4EEB-9874-94BC7754B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81425"/>
            <a:ext cx="28575" cy="2762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D8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3B612B-1C9D-49EB-A269-D327923E1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4480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Structure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D06D97-7C1B-44E4-B967-823225BCC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448050"/>
            <a:ext cx="7429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Extract brand, budget, terms and deadline.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C0BFCD-7064-4FD4-A633-FFF54AC97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812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C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F07632-1B5E-4CC4-B056-3C620D4A0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4337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314E4B-F565-4153-85F2-C84DD6CFA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00550"/>
            <a:ext cx="28575" cy="2762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D8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2360EC-F88B-4C1A-AC6A-4482C0C06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0671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Decide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D2E14A-A3C4-4934-BB0C-822A71DE8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67175"/>
            <a:ext cx="7429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Compare offer to the creator’s rate and usage rules.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073C29-F021-4AFD-B935-F64A812C3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A2E766-32AC-4E29-9E46-B41E4F5A9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BCE690-E8EF-46F7-A9E1-11AF3C136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19675"/>
            <a:ext cx="28575" cy="2762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D8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A96E64-9371-4990-90EF-2642F543A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6863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Respond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14CA04-8F66-4586-A0A9-0C2F6274E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686300"/>
            <a:ext cx="7429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Draft accept, counter, decline or clarification.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A5608F-64F7-4ACB-AB51-1D2B10E04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863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232A88-4933-4526-AA68-4D04B3681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8162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B65684-908B-4CC3-8E27-43975BD19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3054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Track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0438D2-DE37-4865-BA55-85082A39D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305425"/>
            <a:ext cx="7429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Move the deal through new, negotiating, posted and paid.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B7753B-69AA-49DC-98A8-A2279E9F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108204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D8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EFA3E30-3072-48F5-A5D1-E5D6EB035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00775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Content insights and a bounded “Ask your desk” assistant add context to the next decision.</a:t>
            </a:r>
          </a:p>
        </p:txBody>
      </p:sp>
    </p:spTree>
    <p:extLst>
      <p:ext uri="{BB962C8B-B14F-4D97-AF65-F5344CB8AC3E}">
        <p14:creationId xmlns:p14="http://schemas.microsoft.com/office/powerpoint/2010/main" val="182898704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74CD795-9905-4E58-8A00-FCC216156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97386"/>
                </a:solidFill>
                <a:latin typeface="Arial"/>
                <a:ea typeface="Arial"/>
                <a:cs typeface="Arial"/>
              </a:rPr>
              <a:t>COLLABDESK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72790E4-587E-4E09-A570-BE3424432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9738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BF5DD3-F661-4C6A-BAC2-E77AD19B4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26C4F"/>
                </a:solidFill>
                <a:latin typeface="Arial"/>
                <a:ea typeface="Arial"/>
                <a:cs typeface="Arial"/>
              </a:rPr>
              <a:t>DEMO MOMENT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C499F1-81DB-4D8E-BEAF-A7A28D014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38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98000"/>
              </a:lnSpc>
              <a:buNone/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From a messy inbox to a clear counter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13EBE9-8D4C-4FF2-9806-5A50682DC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962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Example from the prototype: Café Ramwadi offers ₹8,000 for one reel and two stories.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DA7880-9793-4FB0-A382-1F089AFD8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32385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A7DC6A-1850-4076-8643-C5FE4C537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67050"/>
            <a:ext cx="1362075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5ADA45-8429-4A7C-B65B-AC8267C75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33725"/>
            <a:ext cx="11334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INBOUND EMAIL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82F4C8-3EE4-493C-80D0-F1C210257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19500"/>
            <a:ext cx="27336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812"/>
          </a:bodyPr>
          <a:lstStyle xmlns:a="http://schemas.openxmlformats.org/drawingml/2006/main">
            <a:def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“We love your Pune food reels.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One reel + 2 stories.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Budget ₹8,000. Post this week.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30 days of usage.”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9D647F-4AAE-438D-9518-632589B62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95875"/>
            <a:ext cx="238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97386"/>
                </a:solidFill>
                <a:latin typeface="Arial"/>
                <a:ea typeface="Arial"/>
                <a:cs typeface="Arial"/>
              </a:rPr>
              <a:t>Café Ramwadi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0F0B8C-5F2E-4B2F-B2EE-C475E2709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067175"/>
            <a:ext cx="904875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C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9AE1F4-FF17-4FC3-8143-00D983E85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39719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C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3EE606-CD90-42DA-98B7-A3AFDA8F4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39624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4175"/>
          </a:bodyPr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86C7B0-11E9-4028-AE4D-DDA3B56CC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857500"/>
            <a:ext cx="28575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9580FC-51D4-4713-9678-21E43FB03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067050"/>
            <a:ext cx="1057275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7F4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0FFAEB-9F74-45DA-AA56-A30F3D17D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133725"/>
            <a:ext cx="828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DEAL CARD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DAD382-C314-4D12-8FB8-B8502552F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600450"/>
            <a:ext cx="2324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Café Ramwadi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6ED834-44B0-483C-A48B-8A6FA52EB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0195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97386"/>
                </a:solidFill>
                <a:latin typeface="Arial"/>
                <a:ea typeface="Arial"/>
                <a:cs typeface="Arial"/>
              </a:rPr>
              <a:t>PAID COLLAB  ·  REEL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0DB100-9524-4AD1-9C89-B475384F2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495800"/>
            <a:ext cx="2305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26C4F"/>
                </a:solidFill>
                <a:latin typeface="Arial"/>
                <a:ea typeface="Arial"/>
                <a:cs typeface="Arial"/>
              </a:rPr>
              <a:t>₹8,000 offer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246F54-5BCE-4672-9D3B-8A5A22F32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905375"/>
            <a:ext cx="2305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Creator reel rate: ₹15,000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AB44DD-A38A-443E-A57F-4DFF76C2A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219700"/>
            <a:ext cx="2305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30-day usage included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041958-2870-4B68-A043-17E16B339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67175"/>
            <a:ext cx="8191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C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D9710C-8F8B-48D3-B79E-4442205F5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9719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C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63744B-DBFE-484C-BD47-34200D56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9624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4175"/>
          </a:bodyPr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99C825-D0D3-43AF-A7F8-1D6C3F1EA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857500"/>
            <a:ext cx="2047875" cy="272415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89A37F-CE33-450F-A850-412B1266B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3067050"/>
            <a:ext cx="9334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C8F3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601275-5B2D-4DE8-AF8F-BAA924AA0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3133725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NEXT STEP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ABA543-7BD1-4AC0-8380-CCB30ED1C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3638550"/>
            <a:ext cx="1619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98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Counter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with context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893BDD-DA22-4CBF-AAFC-58DEE7D02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4572000"/>
            <a:ext cx="1619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5CBD5"/>
                </a:solidFill>
                <a:latin typeface="Arial"/>
                <a:ea typeface="Arial"/>
                <a:cs typeface="Arial"/>
              </a:rPr>
              <a:t>Draft a reply.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5CBD5"/>
                </a:solidFill>
                <a:latin typeface="Arial"/>
                <a:ea typeface="Arial"/>
                <a:cs typeface="Arial"/>
              </a:rPr>
              <a:t>Review and edit.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5CBD5"/>
                </a:solidFill>
                <a:latin typeface="Arial"/>
                <a:ea typeface="Arial"/>
                <a:cs typeface="Arial"/>
              </a:rPr>
              <a:t>Copy when ready.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D8B09C6-A356-4D6C-8CD2-8C42430EE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15025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97386"/>
                </a:solidFill>
                <a:latin typeface="Arial"/>
                <a:ea typeface="Arial"/>
                <a:cs typeface="Arial"/>
              </a:rPr>
              <a:t>A useful decision aid—not an auto-send bot.</a:t>
            </a:r>
          </a:p>
        </p:txBody>
      </p:sp>
    </p:spTree>
    <p:extLst>
      <p:ext uri="{BB962C8B-B14F-4D97-AF65-F5344CB8AC3E}">
        <p14:creationId xmlns:p14="http://schemas.microsoft.com/office/powerpoint/2010/main" val="37940468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7305F49-3272-4C7C-830A-6C519AEC0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97386"/>
                </a:solidFill>
                <a:latin typeface="Arial"/>
                <a:ea typeface="Arial"/>
                <a:cs typeface="Arial"/>
              </a:rPr>
              <a:t>COLLABDESK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34FE06E-5A8F-4795-9E43-D73E8EB02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9738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313951-10E2-4B57-B8D3-2AE087552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26C4F"/>
                </a:solidFill>
                <a:latin typeface="Arial"/>
                <a:ea typeface="Arial"/>
                <a:cs typeface="Arial"/>
              </a:rPr>
              <a:t>RATE AND USAGE LOGIC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D6C4E3-765C-4908-B09A-03C233CC9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38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98000"/>
              </a:lnSpc>
              <a:buNone/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 transparent quote explains why an offer is flagged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25DF5D-ED53-4EA0-A70C-8DF0B8789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962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The creator’s rate card stays the source of truth; the prototype makes the comparison visible.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8B6C13-7915-4EA5-87A5-8D01BE94A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3333750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FAB27D-F4A5-4A6E-8C02-13E4027F1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24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750F0D-0088-41DA-B1C2-1E1F7AA18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28975"/>
            <a:ext cx="361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A6DD8F-AD4A-4820-9959-F838B283D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228975"/>
            <a:ext cx="2286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97386"/>
                </a:solidFill>
                <a:latin typeface="Arial"/>
                <a:ea typeface="Arial"/>
                <a:cs typeface="Arial"/>
              </a:rPr>
              <a:t>FORMAT RATE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C8FCB4-E99D-4AC4-A330-BD3649655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14750"/>
            <a:ext cx="2876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307"/>
          </a:bodyPr>
          <a:lstStyle xmlns:a="http://schemas.openxmlformats.org/drawingml/2006/main">
            <a:def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Start with the creator’s rate for the deal format.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DBADCB-01DD-4ED8-85DD-CAF9999BD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57675"/>
            <a:ext cx="16192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7F4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5138F2-B09C-4E50-9FB8-01B5A62FF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24350"/>
            <a:ext cx="1390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REEL  ·  ₹15,000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06C2D2-AF15-493C-8616-F64B304F4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914650"/>
            <a:ext cx="3333750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FCE1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359E19-E1A4-43C0-AA58-05342A6D0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24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C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BE1AC1-626E-4B92-91A9-45A048C62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228975"/>
            <a:ext cx="361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BEBFF7-8A3E-4A49-B4C8-8FBE9FFC2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3228975"/>
            <a:ext cx="2286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97386"/>
                </a:solidFill>
                <a:latin typeface="Arial"/>
                <a:ea typeface="Arial"/>
                <a:cs typeface="Arial"/>
              </a:rPr>
              <a:t>USAGE WINDOW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594E99-0D23-44DF-8088-0671D0293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714750"/>
            <a:ext cx="2876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307"/>
          </a:bodyPr>
          <a:lstStyle xmlns:a="http://schemas.openxmlformats.org/drawingml/2006/main">
            <a:def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More than 30 days adds 40% to the suggested fee.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5A3C5E-475C-4127-B8B6-154D49675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257675"/>
            <a:ext cx="16192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26C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CF2F08-227D-40C2-914A-C96848C5B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324350"/>
            <a:ext cx="1390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31+ DAYS  ·  +40%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389DCC-30A0-4F35-AD11-3E2EE2AF1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914650"/>
            <a:ext cx="3333750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3C0FE8-2BEA-427F-BB76-E8B515273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24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98ADBB-9FFE-43BE-8E37-2FF6C1AFF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228975"/>
            <a:ext cx="361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C1A52D-C547-4B48-A6B6-03323C16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3228975"/>
            <a:ext cx="2286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97386"/>
                </a:solidFill>
                <a:latin typeface="Arial"/>
                <a:ea typeface="Arial"/>
                <a:cs typeface="Arial"/>
              </a:rPr>
              <a:t>LOWBALL FLAG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6315F2-AD2E-4299-8E36-A6F38A431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714750"/>
            <a:ext cx="2876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307"/>
          </a:bodyPr>
          <a:lstStyle xmlns:a="http://schemas.openxmlformats.org/drawingml/2006/main">
            <a:def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Flag an offer below 70% of the suggested fee.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C24A00-081E-4688-A158-082B1AF36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57675"/>
            <a:ext cx="17526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7F4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C375CF-524B-4135-90A1-923378DBF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3243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₹15,000 × 70% = ₹10,500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989D51-0640-4BB9-B7AB-72224DA67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10687050" cy="695325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BF4676-43B3-4DE3-BBA0-EA0E8FE9F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19700"/>
            <a:ext cx="952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8F36B"/>
                </a:solidFill>
                <a:latin typeface="Arial"/>
                <a:ea typeface="Arial"/>
                <a:cs typeface="Arial"/>
              </a:rPr>
              <a:t>EXAMPLE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AEAB6A-1F70-478E-BE4C-99F564D32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172075"/>
            <a:ext cx="90297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Café Ramwadi’s ₹8,000 offer is below the ₹10,500 flag threshold for a ₹15,000 reel rate.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3387883-CA1C-46CC-ACEB-04E012F1E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72175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The quote uses format + usage rules; it does not automatically add every listed deliverable.</a:t>
            </a:r>
          </a:p>
        </p:txBody>
      </p:sp>
    </p:spTree>
    <p:extLst>
      <p:ext uri="{BB962C8B-B14F-4D97-AF65-F5344CB8AC3E}">
        <p14:creationId xmlns:p14="http://schemas.microsoft.com/office/powerpoint/2010/main" val="26346245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720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D19F25B-F39B-4C82-A23D-54DB6E03E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5CBD5"/>
                </a:solidFill>
                <a:latin typeface="Arial"/>
                <a:ea typeface="Arial"/>
                <a:cs typeface="Arial"/>
              </a:rPr>
              <a:t>COLLABDESK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2BE6F06-CEE4-4FDE-8FFF-67157F013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5CBD5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FEE678-E6F5-425C-AC74-D5252073C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F36B"/>
                </a:solidFill>
                <a:latin typeface="Arial"/>
                <a:ea typeface="Arial"/>
                <a:cs typeface="Arial"/>
              </a:rPr>
              <a:t>AI AND AUTOMATION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621E04-4A0C-41E7-B166-447F82CB5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38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98000"/>
              </a:lnSpc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 reads and drafts; code controls the fee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B7C427-3D66-46CE-A0DA-FA4465D32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962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5CBD5"/>
                </a:solidFill>
                <a:latin typeface="Arial"/>
                <a:ea typeface="Arial"/>
                <a:cs typeface="Arial"/>
              </a:rPr>
              <a:t>Optional model calls never decide or change the creator’s rates.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55D357-C6D8-44BA-BB82-164EA68E0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2667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26C4F"/>
                </a:solidFill>
                <a:latin typeface="Arial"/>
                <a:ea typeface="Arial"/>
                <a:cs typeface="Arial"/>
              </a:rPr>
              <a:t>INBOX EXTRACTION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799EFB-3E9F-445E-9BC5-14699319D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220027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202C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A6143A-B097-4B97-8FC4-80C7D3FFB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29000"/>
            <a:ext cx="185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Email 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B4AA4B-A2D1-4B6D-B4BE-0E776AA34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524250"/>
            <a:ext cx="7048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61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449A41-2828-40A9-A541-6F8E276B6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219450"/>
            <a:ext cx="21145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202C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C007FB-B397-4BD5-A207-0883972AC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24225"/>
            <a:ext cx="1762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F36B"/>
                </a:solidFill>
                <a:latin typeface="Arial"/>
                <a:ea typeface="Arial"/>
                <a:cs typeface="Arial"/>
              </a:rPr>
              <a:t>OpenAI optional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3A5F98-1AE8-44A3-853A-3D7906A0C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543300"/>
            <a:ext cx="1762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gpt-4o-mini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69A3B6-12EE-4E3D-9255-F23D9E220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24250"/>
            <a:ext cx="7048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61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7D7541-62A1-472F-B067-4F917294E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3219450"/>
            <a:ext cx="24479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202C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379076-3EB3-4F96-9430-6B6728BF3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409950"/>
            <a:ext cx="213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Validated deal fields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9C16DD-14AB-4C9C-A23E-0D10D4699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524250"/>
            <a:ext cx="6858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C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2C3067-B059-44A2-BAC5-51818322E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34194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C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7CFB49-CC37-4E23-A214-1564119B3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9575"/>
            <a:ext cx="2667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7695FF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7695FF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7695FF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7695FF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7695FF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7695FF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7695FF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7695FF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7695FF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769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7695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695FF"/>
                </a:solidFill>
                <a:latin typeface="Arial"/>
                <a:ea typeface="Arial"/>
                <a:cs typeface="Arial"/>
              </a:rPr>
              <a:t>REPLY DRAFT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77EB0C-FCD2-4E5B-8B02-42FA17EF2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43425"/>
            <a:ext cx="220027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202C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8997B7-0B95-4D15-A019-413DEAEDE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52975"/>
            <a:ext cx="185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Intent + deal + fixed quote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8EAE59-7639-4D40-8FBE-4603341DE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848225"/>
            <a:ext cx="7048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61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6A93B6-C7C8-474E-A444-E581E0CA6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543425"/>
            <a:ext cx="21145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202C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E88BBF-D8FB-4C67-B347-D9399179B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48200"/>
            <a:ext cx="1762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F36B"/>
                </a:solidFill>
                <a:latin typeface="Arial"/>
                <a:ea typeface="Arial"/>
                <a:cs typeface="Arial"/>
              </a:rPr>
              <a:t>OpenAI optional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4A2498-1153-4ADC-A334-39830A7A0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867275"/>
            <a:ext cx="1762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gpt-4o-mini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44AB8B-3AC9-406C-8888-B4001AA9C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848225"/>
            <a:ext cx="7048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61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031679-0CD2-477F-A85C-4EB6DFCEA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4543425"/>
            <a:ext cx="24479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202C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B8DF7C-8680-4C1B-96D6-6F6EF74C7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733925"/>
            <a:ext cx="213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Subject + reply body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441DDC-A502-4DC3-88C9-763515F59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848225"/>
            <a:ext cx="6858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69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0E81BC6-4ECD-415D-A019-C32FD44A5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7434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9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F50A1B7-C799-40F4-8CFF-D4592470F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8F36B"/>
                </a:solidFill>
                <a:latin typeface="Arial"/>
                <a:ea typeface="Arial"/>
                <a:cs typeface="Arial"/>
              </a:rPr>
              <a:t>VALIDATION + FALLBACK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99245FB-B36D-481A-897E-ED2F75C35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553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Model JSON is checked. Missing key, timeout, provider error or invalid output falls back to deterministic code.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13C3CCE-BE96-4266-8DC8-E913DFE6A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8286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C5CBD5"/>
                </a:solidFill>
                <a:latin typeface="Arial"/>
                <a:ea typeface="Arial"/>
                <a:cs typeface="Arial"/>
              </a:rPr>
              <a:t>Rate quote remains deterministic in server/rate.js.</a:t>
            </a:r>
          </a:p>
        </p:txBody>
      </p:sp>
    </p:spTree>
    <p:extLst>
      <p:ext uri="{BB962C8B-B14F-4D97-AF65-F5344CB8AC3E}">
        <p14:creationId xmlns:p14="http://schemas.microsoft.com/office/powerpoint/2010/main" val="149776969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720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934613-F934-4B61-8B41-4EB713224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5CBD5"/>
                </a:solidFill>
                <a:latin typeface="Arial"/>
                <a:ea typeface="Arial"/>
                <a:cs typeface="Arial"/>
              </a:rPr>
              <a:t>COLLABDESK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8103BD8-B4DC-4805-824B-37905836A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5CBD5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0385AC-48CB-4C61-83F9-209BDFBAF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F36B"/>
                </a:solidFill>
                <a:latin typeface="Arial"/>
                <a:ea typeface="Arial"/>
                <a:cs typeface="Arial"/>
              </a:rPr>
              <a:t>CONTENT CONTEXT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BD396F-F6B7-46CC-8DD3-D727C0493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38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98000"/>
              </a:lnSpc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Use past performance to shape a better-fit brief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6CDD38-5B85-470D-82C2-BE050F506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962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5CBD5"/>
                </a:solidFill>
                <a:latin typeface="Arial"/>
                <a:ea typeface="Arial"/>
                <a:cs typeface="Arial"/>
              </a:rPr>
              <a:t>Demo post data gives the creator a starting point for partnership conversations.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291241-2E34-4F93-B104-B9D460CF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F36B"/>
                </a:solidFill>
                <a:latin typeface="Arial"/>
                <a:ea typeface="Arial"/>
                <a:cs typeface="Arial"/>
              </a:rPr>
              <a:t>AVERAGE REACH IN SEEDED DEMO 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8B7C44-7EB1-4800-BD40-9905940B1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FOOD POSTS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AB6C7E-5DEE-4F1F-A1EC-9922FBD3C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00475"/>
            <a:ext cx="49530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303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446264-A643-417F-A4D9-0350D599C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00475"/>
            <a:ext cx="386334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26C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ADE7C8-C7B1-4E69-A72C-5E520F6F5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714750"/>
            <a:ext cx="4619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 posts · 78,000 average reach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B9E26D-2111-475F-B681-F6F8A2E1B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BEAUTY POST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D412A8-E485-467A-87A6-6C0BBBF9C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29175"/>
            <a:ext cx="49530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303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FFC1E1-A5F4-4D6B-B62E-997C6CE7A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29175"/>
            <a:ext cx="54483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769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739BC1-8A77-4711-BE2C-3B7CF67CE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743450"/>
            <a:ext cx="4619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 post · 11,000 reach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3F361A-51A1-4C7B-8B66-743357330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43575"/>
            <a:ext cx="10429875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202C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3D6209-73AF-47C7-8DA3-C5AA717FB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86450"/>
            <a:ext cx="9877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5CBD5"/>
                </a:solidFill>
                <a:latin typeface="Arial"/>
                <a:ea typeface="Arial"/>
                <a:cs typeface="Arial"/>
              </a:rPr>
              <a:t>Directional signal only: posts are fixtures in the prototype, not live platform analytics.</a:t>
            </a:r>
          </a:p>
        </p:txBody>
      </p:sp>
    </p:spTree>
    <p:extLst>
      <p:ext uri="{BB962C8B-B14F-4D97-AF65-F5344CB8AC3E}">
        <p14:creationId xmlns:p14="http://schemas.microsoft.com/office/powerpoint/2010/main" val="163310398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720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63EAC7B-6458-41F4-B559-D528D4BE1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5CBD5"/>
                </a:solidFill>
                <a:latin typeface="Arial"/>
                <a:ea typeface="Arial"/>
                <a:cs typeface="Arial"/>
              </a:rPr>
              <a:t>COLLABDESK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A85EBF2-EF70-418F-ABB8-E3DCA66EB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5CBD5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88BC89-F007-4FF1-84A6-CAAE21EF4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F36B"/>
                </a:solidFill>
                <a:latin typeface="Arial"/>
                <a:ea typeface="Arial"/>
                <a:cs typeface="Arial"/>
              </a:rPr>
              <a:t>HOW IT IS BUILT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781C59-50EC-4357-83B5-9EF6DA4B7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38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98000"/>
              </a:lnSpc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Simple rules for the decision; AI for the busywork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275745-D2C5-4C35-BA38-F9D251B48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962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5CBD5"/>
                </a:solidFill>
                <a:latin typeface="Arial"/>
                <a:ea typeface="Arial"/>
                <a:cs typeface="Arial"/>
              </a:rPr>
              <a:t>A human stays in control of every business decision and outgoing message.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13AE73-A8DA-4358-B61F-9C999294C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6048375" cy="2647950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202C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FA7FD6-2E59-4466-B976-FAADD378A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05200"/>
            <a:ext cx="1428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DD1A62-0118-4BD7-861F-49BB4AE0C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05200"/>
            <a:ext cx="14287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69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816CEC-3FD9-4761-9D0D-4B86177A6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24275"/>
            <a:ext cx="11620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CREATOR UI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AEE1A7-FB5B-4FDA-9846-DF7B6BB6C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1955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203"/>
          </a:bodyPr>
          <a:lstStyle xmlns:a="http://schemas.openxmlformats.org/drawingml/2006/main">
            <a:defPPr algn="l">
              <a:defRPr sz="11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5CBD5"/>
                </a:solidFill>
                <a:latin typeface="Arial"/>
                <a:ea typeface="Arial"/>
                <a:cs typeface="Arial"/>
              </a:rPr>
              <a:t>Inbox · deals · rates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80F556-1927-4645-9BC8-5A6FF9883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505200"/>
            <a:ext cx="1428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72A08F-D8F6-40A0-BF36-3D92D031E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505200"/>
            <a:ext cx="14287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C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3F8064-ABD4-4C79-9C75-44503EC0C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3724275"/>
            <a:ext cx="11620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WORKFLOW API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7FC823-C7F6-4123-8FF7-8C5676D71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401955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950"/>
          </a:bodyPr>
          <a:lstStyle xmlns:a="http://schemas.openxmlformats.org/drawingml/2006/main">
            <a:defPPr algn="l">
              <a:defRPr sz="11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5CBD5"/>
                </a:solidFill>
                <a:latin typeface="Arial"/>
                <a:ea typeface="Arial"/>
                <a:cs typeface="Arial"/>
              </a:rPr>
              <a:t>Parse · quote · draft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55CC85-11CF-4039-9710-517723695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505200"/>
            <a:ext cx="1428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A77B13-87E7-4E95-850C-CFB074C8E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505200"/>
            <a:ext cx="14287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F3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36CC23-D518-44B6-B446-DF9575B2B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724275"/>
            <a:ext cx="11620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WORKSPACE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734B01-7CDE-4BDD-8A42-D27D289FD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01955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910"/>
          </a:bodyPr>
          <a:lstStyle xmlns:a="http://schemas.openxmlformats.org/drawingml/2006/main">
            <a:defPPr algn="l">
              <a:defRPr sz="11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5CBD5"/>
                </a:solidFill>
                <a:latin typeface="Arial"/>
                <a:ea typeface="Arial"/>
                <a:cs typeface="Arial"/>
              </a:rPr>
              <a:t>Demo data · storage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5358ED-78CC-4FC4-957B-C6F10BCB6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3981450"/>
            <a:ext cx="457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967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DC4BC2-1A60-47F3-8058-0862E1198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981450"/>
            <a:ext cx="4572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967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43C926-A874-4D5B-A5BB-2A88136EC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10125"/>
            <a:ext cx="2286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5CBD5"/>
                </a:solidFill>
                <a:latin typeface="Arial"/>
                <a:ea typeface="Arial"/>
                <a:cs typeface="Arial"/>
              </a:rPr>
              <a:t>Optional model assistance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1459E5-0F0F-4806-A54D-FED840FD9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105400"/>
            <a:ext cx="5000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8F36B"/>
                </a:solidFill>
                <a:latin typeface="Arial"/>
                <a:ea typeface="Arial"/>
                <a:cs typeface="Arial"/>
              </a:rPr>
              <a:t>Rate and usage rules stay deterministic.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D26A4A-188B-43AC-B43B-72A16CF3A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9146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F36B"/>
                </a:solidFill>
                <a:latin typeface="Arial"/>
                <a:ea typeface="Arial"/>
                <a:cs typeface="Arial"/>
              </a:rPr>
              <a:t>CURRENT BOUNDARIES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037F27-E14C-4A2E-B5F3-6724C3F9D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371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C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EC6966-0594-4E98-9619-2F2F97307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324225"/>
            <a:ext cx="37528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No login or multi-creator isolation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6BE3C1E-B2A0-4D20-97F2-177219C1E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0386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9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BAAF01-8E20-4679-AA6D-624B197D4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990975"/>
            <a:ext cx="37528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No live social account or analytics connection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156B739-DE2A-4799-BE7A-2A80BEFB7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705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9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9B995C-8BC5-4DE4-976D-63148F26B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657725"/>
            <a:ext cx="37528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No automatic email sending or invoicing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9674790-1C8D-4482-9ADB-A651F7039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4292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5CBD5"/>
                </a:solidFill>
                <a:latin typeface="Arial"/>
                <a:ea typeface="Arial"/>
                <a:cs typeface="Arial"/>
              </a:rPr>
              <a:t>Trust starts with clear limits and creator review.</a:t>
            </a:r>
          </a:p>
        </p:txBody>
      </p:sp>
    </p:spTree>
    <p:extLst>
      <p:ext uri="{BB962C8B-B14F-4D97-AF65-F5344CB8AC3E}">
        <p14:creationId xmlns:p14="http://schemas.microsoft.com/office/powerpoint/2010/main" val="212700340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18C2E5-445C-42A4-B3A1-EB3070A51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97386"/>
                </a:solidFill>
                <a:latin typeface="Arial"/>
                <a:ea typeface="Arial"/>
                <a:cs typeface="Arial"/>
              </a:rPr>
              <a:t>COLLABDESK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1A45CB7-6E9A-477D-A8C0-FF09E4951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97386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5E9EFF-7AD8-4BD5-95ED-7BB92AA89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26C4F"/>
                </a:solidFill>
                <a:latin typeface="Arial"/>
                <a:ea typeface="Arial"/>
                <a:cs typeface="Arial"/>
              </a:rPr>
              <a:t>STATE AND STORAGE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36CCD2-713B-45C9-B579-1233F96F9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38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98000"/>
              </a:lnSpc>
              <a:buNone/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 small state document keeps the prototype clear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7FFC46-C4D3-4C85-ACFF-C52782C6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962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The schema fits one demo creator today; multi-creator ownership needs a redesign.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415D0B-1874-4CE2-B644-AC1B38DE4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2714625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4F394C-C0A1-47DA-93BC-08357D4EA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2714625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C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84FAA6-C2CC-45D3-8318-AA751CDC3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71850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creator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FE08DB-250B-43BE-821C-79A940E06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2333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profile · niche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followers · rates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E73CE1-EDA5-4329-9D7B-360B51AF0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05150"/>
            <a:ext cx="2714625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972B22-B86F-4BF0-A1D0-7188B773A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05150"/>
            <a:ext cx="2714625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69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D4CB54-28B9-4AA8-8A07-5F9EDA2AF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71850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deals[]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CE25B7-8401-4E41-ACC8-EC9E263E9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90950"/>
            <a:ext cx="2333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brand · offer · terms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status · usage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BC6B3E-DC1A-4391-8CFA-9AD9C772F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105150"/>
            <a:ext cx="2714625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E2B7D5-E887-4CB0-9993-903A7E5D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105150"/>
            <a:ext cx="2714625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F3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C6D7C7-6067-4907-8236-6B547CAFD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371850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posts[]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4EFEF1-760D-476F-8660-B982B84B4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790950"/>
            <a:ext cx="2333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topic · reach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saves · format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7CC0FD-89F8-4F93-B5C8-EB4CB42DC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451485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8448FB-BE48-4E56-9193-4B038CB6B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244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8F36B"/>
                </a:solidFill>
                <a:latin typeface="Arial"/>
                <a:ea typeface="Arial"/>
                <a:cs typeface="Arial"/>
              </a:rPr>
              <a:t>DEFAULT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2524E4-6515-473E-BA26-D2CD73770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53050"/>
            <a:ext cx="3905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316"/>
          </a:bodyPr>
          <a:lstStyle xmlns:a="http://schemas.openxmlformats.org/drawingml/2006/main">
            <a:def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server/data/db.json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5DFCEF-2A4D-450D-B736-8D9BD536E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953000"/>
            <a:ext cx="563880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E4E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B3F2B3-5728-4CDC-8D36-E5F2BBB0A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1244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26C4F"/>
                </a:solidFill>
                <a:latin typeface="Arial"/>
                <a:ea typeface="Arial"/>
                <a:cs typeface="Arial"/>
              </a:rPr>
              <a:t>OPTIONAL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D63A88-27E3-49CA-81C0-AC769374B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353050"/>
            <a:ext cx="5048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316"/>
          </a:bodyPr>
          <a:lstStyle xmlns:a="http://schemas.openxmlformats.org/drawingml/2006/main">
            <a:def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Supabase · one collabdesk_state JSONB row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B130FC-8D14-4AA2-B8F6-90FBD037D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34075"/>
            <a:ext cx="1057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97386"/>
                </a:solidFill>
                <a:latin typeface="Arial"/>
                <a:ea typeface="Arial"/>
                <a:cs typeface="Arial"/>
              </a:rPr>
              <a:t>Quotes and reach averages are computed when requested; no normalized tables or foreign keys exist.</a:t>
            </a:r>
          </a:p>
        </p:txBody>
      </p:sp>
    </p:spTree>
    <p:extLst>
      <p:ext uri="{BB962C8B-B14F-4D97-AF65-F5344CB8AC3E}">
        <p14:creationId xmlns:p14="http://schemas.microsoft.com/office/powerpoint/2010/main" val="128983158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720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93EA31-DDCD-4E3C-9C0A-0E970121D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5CBD5"/>
                </a:solidFill>
                <a:latin typeface="Arial"/>
                <a:ea typeface="Arial"/>
                <a:cs typeface="Arial"/>
              </a:rPr>
              <a:t>COLLABDESK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B493FAF-02D4-4F75-AF8B-62B879B1E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5CBD5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6D2DEF-6DC5-4E7B-80FE-77BDCED5B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F36B"/>
                </a:solidFill>
                <a:latin typeface="Arial"/>
                <a:ea typeface="Arial"/>
                <a:cs typeface="Arial"/>
              </a:rPr>
              <a:t>ENGINEERING CHOICES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646DB0-DE58-4A8F-BCE6-C336E4DDE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38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98000"/>
              </a:lnSpc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Small safeguards make a local demo more reliable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DB18FC-B5FD-4E43-A27B-BC432806A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962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5CBD5"/>
                </a:solidFill>
                <a:latin typeface="Arial"/>
                <a:ea typeface="Arial"/>
                <a:cs typeface="Arial"/>
              </a:rPr>
              <a:t>They improve bounded input handling and writes; they do not replace identity or access control.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B697B6-BEA1-4082-AB4F-36FEA0466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48958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202C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7D7BD3-C432-46DA-A189-F85FE7209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76200" cy="1104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C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31DEBF-624C-4A2B-8BDC-6297DDF1B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670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26C4F"/>
                </a:solidFill>
                <a:latin typeface="Arial"/>
                <a:ea typeface="Arial"/>
                <a:cs typeface="Arial"/>
              </a:rPr>
              <a:t>BOUNDED REQUESTS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B7C35F-AA3B-46BB-9DB2-EB8C85523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623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16 KB API body cap · email up to 10,000 characters · field validation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45C6CB-5AE4-40B9-AFA9-6B265ACBF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76550"/>
            <a:ext cx="48958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202C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D0A05C-AD14-4814-9953-9C7070E66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76550"/>
            <a:ext cx="76200" cy="1104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69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DC99DD-B5E2-43F8-B9A1-AE30BD6CD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0670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7695FF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7695FF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7695FF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7695FF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7695FF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7695FF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7695FF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7695FF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7695FF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769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7695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695FF"/>
                </a:solidFill>
                <a:latin typeface="Arial"/>
                <a:ea typeface="Arial"/>
                <a:cs typeface="Arial"/>
              </a:rPr>
              <a:t>RELIABLE FILE WRITES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ACB32B-CE8C-477E-9498-94784942B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3623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In-process update queue · temp write + atomic rename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9EEFFE-EE2B-4B49-BBAB-F61B369CB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48958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202C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6BB323-9D3C-45B1-9E48-29D3E252D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76200" cy="1104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F3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B301C3-4880-4F35-BAC3-FA0FFF228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386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8F36B"/>
                </a:solidFill>
                <a:latin typeface="Arial"/>
                <a:ea typeface="Arial"/>
                <a:cs typeface="Arial"/>
              </a:rPr>
              <a:t>OPTIONAL DATABASE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6D6E80-BE23-4DB2-B5A0-CB6AF794B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339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Supabase compare-and-swap revision check · retries up to five times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BE7756-4218-4D31-A1EF-9194939AF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248150"/>
            <a:ext cx="48958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202C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2C0C92-77C9-43ED-AAC2-2637B2DE0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248150"/>
            <a:ext cx="76200" cy="1104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C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14491E-45FE-42A5-9B24-3C1E1F678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4386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26C4F"/>
                </a:solidFill>
                <a:latin typeface="Arial"/>
                <a:ea typeface="Arial"/>
                <a:cs typeface="Arial"/>
              </a:rPr>
              <a:t>LOCAL-ONLY DEFAULT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0490C5-8E4C-4850-A853-7C59739ED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7339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Bind to 127.0.0.1 · exact-origin CORS allowlist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725DDD-DEA7-4D33-950C-1CC08C35B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8F36B"/>
                </a:solidFill>
                <a:latin typeface="Arial"/>
                <a:ea typeface="Arial"/>
                <a:cs typeface="Arial"/>
              </a:rPr>
              <a:t>No authentication, authorization or per-user boundaries exist. Do not expose this API to a shared network.</a:t>
            </a:r>
          </a:p>
        </p:txBody>
      </p:sp>
    </p:spTree>
    <p:extLst>
      <p:ext uri="{BB962C8B-B14F-4D97-AF65-F5344CB8AC3E}">
        <p14:creationId xmlns:p14="http://schemas.microsoft.com/office/powerpoint/2010/main" val="68842508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5A3C16-3F56-406E-AB1B-FEC97FF7D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97386"/>
                </a:solidFill>
                <a:latin typeface="Arial"/>
                <a:ea typeface="Arial"/>
                <a:cs typeface="Arial"/>
              </a:rPr>
              <a:t>COLLABDESK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7202CA2-EE05-49F2-AA55-B5EBF0DF9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97386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45AC74-B3C8-4396-8716-0D4BDAB3D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26C4F"/>
                </a:solidFill>
                <a:latin typeface="Arial"/>
                <a:ea typeface="Arial"/>
                <a:cs typeface="Arial"/>
              </a:rPr>
              <a:t>EVIDENCE TODAY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DEEB53-F0AD-4F65-92D6-71C29B7BE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38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98000"/>
              </a:lnSpc>
              <a:buNone/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The API suite passes; user impact is still a hypothesis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21A220-3A23-4A0A-88A9-087B27BDD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962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Verification covers backend behavior and a production frontend build, not a browser journey.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AB274B-3B8B-443F-8DB8-C05572341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3000375" cy="23241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199E55-700E-4949-BB32-680C7FCF7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71850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666"/>
          </a:bodyPr>
          <a:lstStyle xmlns:a="http://schemas.openxmlformats.org/drawingml/2006/main">
            <a:defPPr algn="l">
              <a:defRPr sz="36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defPPr>
            <a:lvl1pPr algn="l">
              <a:defRPr sz="36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1pPr>
            <a:lvl2pPr algn="l">
              <a:defRPr sz="36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2pPr>
            <a:lvl3pPr algn="l">
              <a:defRPr sz="36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3pPr>
            <a:lvl4pPr algn="l">
              <a:defRPr sz="36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4pPr>
            <a:lvl5pPr algn="l">
              <a:defRPr sz="36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5pPr>
            <a:lvl6pPr algn="l">
              <a:defRPr sz="36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6pPr>
            <a:lvl7pPr algn="l">
              <a:defRPr sz="36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7pPr>
            <a:lvl8pPr algn="l">
              <a:defRPr sz="36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8pPr>
            <a:lvl9pPr algn="l">
              <a:defRPr sz="36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C8F36B"/>
                </a:solidFill>
                <a:latin typeface="Arial"/>
                <a:ea typeface="Arial"/>
                <a:cs typeface="Arial"/>
              </a:rPr>
              <a:t>10 / 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119112-4DC0-4634-8C18-9762D04AC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2907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automated tests pass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5D1FC1-C591-4141-A23B-3433CB637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767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5CBD5"/>
                </a:solidFill>
                <a:latin typeface="Arial"/>
                <a:ea typeface="Arial"/>
                <a:cs typeface="Arial"/>
              </a:rPr>
              <a:t>API · validation · fallback · rate logic · mocked Supabase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0C10F2-EAEE-493B-AC31-5D7DBB289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971800"/>
            <a:ext cx="3000375" cy="23241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671F90-E994-4449-A2BE-8190899DD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38137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26C4F"/>
                </a:solidFill>
                <a:latin typeface="Arial"/>
                <a:ea typeface="Arial"/>
                <a:cs typeface="Arial"/>
              </a:rPr>
              <a:t>BUILD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B02FB2-A5A7-47FC-8E4D-DA141B30D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752850"/>
            <a:ext cx="24003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20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Vite production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build passes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E17C50-1082-4709-ACC8-4F4F9C809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667250"/>
            <a:ext cx="233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370"/>
          </a:bodyPr>
          <a:lstStyle xmlns:a="http://schemas.openxmlformats.org/drawingml/2006/main">
            <a:defPPr algn="l">
              <a:defRPr sz="11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Frontend assets compile successfully.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362BCA-B541-4505-8C12-B60AB3023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971800"/>
            <a:ext cx="4191000" cy="23241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CE1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DA4A9B-94C3-476A-A4F8-F1FBCDA7A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38137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26C4F"/>
                </a:solidFill>
                <a:latin typeface="Arial"/>
                <a:ea typeface="Arial"/>
                <a:cs typeface="Arial"/>
              </a:rPr>
              <a:t>NOT VERIFIED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6B8A0D-89F6-4BDF-98D7-3CA1652E0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752850"/>
            <a:ext cx="333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No live OpenAI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or Supabase check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6B8969-EBCF-448D-A149-5267E23AC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638675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No automated browser, accessibility, responsive or user study results.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7D5D5F-9A43-4853-B5BC-7A77A7E7B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No time-saved, revenue or adoption claims are available yet.</a:t>
            </a:r>
          </a:p>
        </p:txBody>
      </p:sp>
    </p:spTree>
    <p:extLst>
      <p:ext uri="{BB962C8B-B14F-4D97-AF65-F5344CB8AC3E}">
        <p14:creationId xmlns:p14="http://schemas.microsoft.com/office/powerpoint/2010/main" val="90310467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354628-73CE-49C9-BDAC-962FF3198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97386"/>
                </a:solidFill>
                <a:latin typeface="Arial"/>
                <a:ea typeface="Arial"/>
                <a:cs typeface="Arial"/>
              </a:rPr>
              <a:t>COLLABDESK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1FBB459-724F-4173-8086-699320F4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97386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9D5C86-A60D-4306-A372-641A484D6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26C4F"/>
                </a:solidFill>
                <a:latin typeface="Arial"/>
                <a:ea typeface="Arial"/>
                <a:cs typeface="Arial"/>
              </a:rPr>
              <a:t>HACKATHON ASK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4D289E-02B1-492E-A4B1-E3F7CBB68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38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98000"/>
              </a:lnSpc>
              <a:buNone/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Help us validate the workflow with real creators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7EFBAE-DD5E-4B29-8E27-E90A85685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962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The next milestone is learning whether the desk saves effort and improves deal clarity.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CED2D7-1F2D-463B-AD4D-A3D722BF1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4953000" cy="2533650"/>
          </a:xfrm>
          <a:prstGeom xmlns:a="http://schemas.openxmlformats.org/drawingml/2006/main" prst="roundRect">
            <a:avLst>
              <a:gd name="adj" fmla="val 3008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C2E4CB-A373-4385-95DB-235E323AA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24200"/>
            <a:ext cx="20193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C8F3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5F64C7-E47B-44C0-A284-817623D6D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90875"/>
            <a:ext cx="1790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WHAT WE WANT TO LEARN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BD805C-14F5-4760-A4BE-E0D1F669D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76650"/>
            <a:ext cx="42576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3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Can creators act on an offer faster—and feel clearer about the terms?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849528-8D11-4A11-A2BE-41638B0D1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48225"/>
            <a:ext cx="42195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5CBD5"/>
                </a:solidFill>
                <a:latin typeface="Arial"/>
                <a:ea typeface="Arial"/>
                <a:cs typeface="Arial"/>
              </a:rPr>
              <a:t>We want feedback from creators and a few brands on the inbox-to-reply flow.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1B7F21-1A8E-4EA2-8CBD-1D1111530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6227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26C4F"/>
                </a:solidFill>
                <a:latin typeface="Arial"/>
                <a:ea typeface="Arial"/>
                <a:cs typeface="Arial"/>
              </a:rPr>
              <a:t>NEXT BUILD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4F16D5-5199-40E2-86BA-6D623C123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480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C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CACE66-7B8C-4EF9-9A91-0A53B7AFB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24250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967"/>
          </a:bodyPr>
          <a:lstStyle xmlns:a="http://schemas.openxmlformats.org/drawingml/2006/main">
            <a:def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  <a:lvl1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1pPr>
            <a:lvl2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2pPr>
            <a:lvl3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3pPr>
            <a:lvl4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4pPr>
            <a:lvl5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5pPr>
            <a:lvl6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6pPr>
            <a:lvl7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7pPr>
            <a:lvl8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8pPr>
            <a:lvl9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ADA6E5-EAE7-4A1B-9594-59D28ECEB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438525"/>
            <a:ext cx="428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Secure creator accounts and private workspaces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50B3EF-1EE2-4DC8-86F2-64FEB1B5B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338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F3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193DF7-8C62-4AD5-BE21-90F6EF1A5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210050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967"/>
          </a:bodyPr>
          <a:lstStyle xmlns:a="http://schemas.openxmlformats.org/drawingml/2006/main">
            <a:def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  <a:lvl1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1pPr>
            <a:lvl2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2pPr>
            <a:lvl3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3pPr>
            <a:lvl4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4pPr>
            <a:lvl5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5pPr>
            <a:lvl6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6pPr>
            <a:lvl7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7pPr>
            <a:lvl8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8pPr>
            <a:lvl9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077AA6-3280-4D60-B6BA-D33E13CEE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124325"/>
            <a:ext cx="428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Connect real social metrics with creator permission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B50D5A-465A-4CDC-812B-5CEFC5BDA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8196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F3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F1FF7C-12F6-4F2D-B5E3-F08E9A556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895850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967"/>
          </a:bodyPr>
          <a:lstStyle xmlns:a="http://schemas.openxmlformats.org/drawingml/2006/main">
            <a:def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  <a:lvl1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1pPr>
            <a:lvl2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2pPr>
            <a:lvl3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3pPr>
            <a:lvl4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4pPr>
            <a:lvl5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5pPr>
            <a:lvl6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6pPr>
            <a:lvl7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7pPr>
            <a:lvl8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8pPr>
            <a:lvl9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4C01CD-3D04-4CB6-A418-70A37025E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810125"/>
            <a:ext cx="428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Test rate and usage decisions with pilot users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3211DB-937A-4017-92B0-331ABA04A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619750"/>
            <a:ext cx="51816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D8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2AC763-7111-4ADC-AF39-992EDF000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848350"/>
            <a:ext cx="200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CollabDesk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F57FCD-0C0D-45F1-8131-CA12B0F98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61531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Make the business side easier to manage.</a:t>
            </a:r>
          </a:p>
        </p:txBody>
      </p:sp>
    </p:spTree>
    <p:extLst>
      <p:ext uri="{BB962C8B-B14F-4D97-AF65-F5344CB8AC3E}">
        <p14:creationId xmlns:p14="http://schemas.microsoft.com/office/powerpoint/2010/main" val="124954693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720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26D507-4C52-4311-8441-9541A46B1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5CBD5"/>
                </a:solidFill>
                <a:latin typeface="Arial"/>
                <a:ea typeface="Arial"/>
                <a:cs typeface="Arial"/>
              </a:rPr>
              <a:t>COLLABDESK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CC3E097-CAC3-431B-BB42-CEADAA602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5CBD5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0B42A0-A225-400C-B680-1068BC357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F36B"/>
                </a:solidFill>
                <a:latin typeface="Arial"/>
                <a:ea typeface="Arial"/>
                <a:cs typeface="Arial"/>
              </a:rPr>
              <a:t>WHAT WE WILL VALIDATE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C0F4F5-2510-482A-AD5C-6D48C7216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38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98000"/>
              </a:lnSpc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useful desk should make the next decision clearer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5C8845-15A9-4438-8AD0-F5D186005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962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5CBD5"/>
                </a:solidFill>
                <a:latin typeface="Arial"/>
                <a:ea typeface="Arial"/>
                <a:cs typeface="Arial"/>
              </a:rPr>
              <a:t>We want to test the workflow with creators before expanding integrations.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A4D712-D722-4433-9C18-7127FA26A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765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C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8ADF5F-DF5B-456C-B36C-3762423B3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52750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967"/>
          </a:bodyPr>
          <a:lstStyle xmlns:a="http://schemas.openxmlformats.org/drawingml/2006/main">
            <a:def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  <a:lvl1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1pPr>
            <a:lvl2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2pPr>
            <a:lvl3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3pPr>
            <a:lvl4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4pPr>
            <a:lvl5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5pPr>
            <a:lvl6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6pPr>
            <a:lvl7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7pPr>
            <a:lvl8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8pPr>
            <a:lvl9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3AE049-EBE9-440D-9CA7-3736F7CC9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05125"/>
            <a:ext cx="1619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8F36B"/>
                </a:solidFill>
                <a:latin typeface="Arial"/>
                <a:ea typeface="Arial"/>
                <a:cs typeface="Arial"/>
              </a:rPr>
              <a:t>TIME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9CDFB3-DD91-4A5C-95E8-B2FBC8627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76550"/>
            <a:ext cx="6572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Email received → reply reviewed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CD8DEA-CEAD-4A51-A68F-15D1CA7BF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623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9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D96BC2-6FCF-498C-A110-8F235A311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967"/>
          </a:bodyPr>
          <a:lstStyle xmlns:a="http://schemas.openxmlformats.org/drawingml/2006/main">
            <a:def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  <a:lvl1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1pPr>
            <a:lvl2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2pPr>
            <a:lvl3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3pPr>
            <a:lvl4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4pPr>
            <a:lvl5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5pPr>
            <a:lvl6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6pPr>
            <a:lvl7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7pPr>
            <a:lvl8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8pPr>
            <a:lvl9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931641-B5E5-47D7-A2E8-6635F0F00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90925"/>
            <a:ext cx="1619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5CBD5"/>
                </a:solidFill>
                <a:latin typeface="Arial"/>
                <a:ea typeface="Arial"/>
                <a:cs typeface="Arial"/>
              </a:rPr>
              <a:t>QUALITY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1F8697-CBA1-447D-950B-89289748A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562350"/>
            <a:ext cx="6572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Key terms extracted correctly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734B56-7B89-4D8B-B450-3F594E127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481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F3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5F1F5A-3D99-4399-BBC1-919B111EF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24350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967"/>
          </a:bodyPr>
          <a:lstStyle xmlns:a="http://schemas.openxmlformats.org/drawingml/2006/main">
            <a:def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  <a:lvl1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1pPr>
            <a:lvl2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2pPr>
            <a:lvl3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3pPr>
            <a:lvl4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4pPr>
            <a:lvl5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5pPr>
            <a:lvl6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6pPr>
            <a:lvl7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7pPr>
            <a:lvl8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8pPr>
            <a:lvl9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DFA853-BD39-4B5C-9A70-2D1FBF9EF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76725"/>
            <a:ext cx="1619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5CBD5"/>
                </a:solidFill>
                <a:latin typeface="Arial"/>
                <a:ea typeface="Arial"/>
                <a:cs typeface="Arial"/>
              </a:rPr>
              <a:t>CONFIDENCE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E59746-8971-4CB7-BC6C-10A1E4991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48150"/>
            <a:ext cx="6572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Creator agrees with the rate and usage flag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997DE0-0BF4-45DB-880B-FEC1032DA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339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F3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5B9E77-BF6F-45D0-80AC-98ADD1C23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10150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967"/>
          </a:bodyPr>
          <a:lstStyle xmlns:a="http://schemas.openxmlformats.org/drawingml/2006/main">
            <a:def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  <a:lvl1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1pPr>
            <a:lvl2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2pPr>
            <a:lvl3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3pPr>
            <a:lvl4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4pPr>
            <a:lvl5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5pPr>
            <a:lvl6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6pPr>
            <a:lvl7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7pPr>
            <a:lvl8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8pPr>
            <a:lvl9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D69DC8-FD5C-446B-8ECA-E532FE8D4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62525"/>
            <a:ext cx="1619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5CBD5"/>
                </a:solidFill>
                <a:latin typeface="Arial"/>
                <a:ea typeface="Arial"/>
                <a:cs typeface="Arial"/>
              </a:rPr>
              <a:t>FOLLOW-THROUGH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F121AE-0499-4CE4-B398-653023B63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933950"/>
            <a:ext cx="6572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Next action completed on time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A3A0F9-589D-4BF0-BE3B-1E08E10CB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43575"/>
            <a:ext cx="104394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26C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BC0DA9-577E-4351-94C9-B056D4142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626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OUR ASK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4C19F0-5905-4AD2-959D-E4E1C5804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915025"/>
            <a:ext cx="8705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Creator pilot partners + feedback on the inbox-to-reply experience.</a:t>
            </a:r>
          </a:p>
        </p:txBody>
      </p:sp>
    </p:spTree>
    <p:extLst>
      <p:ext uri="{BB962C8B-B14F-4D97-AF65-F5344CB8AC3E}">
        <p14:creationId xmlns:p14="http://schemas.microsoft.com/office/powerpoint/2010/main" val="162350108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1720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D7EE25-841A-4CE2-BAD6-68E3FDC77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5CBD5"/>
                </a:solidFill>
                <a:latin typeface="Arial"/>
                <a:ea typeface="Arial"/>
                <a:cs typeface="Arial"/>
              </a:rPr>
              <a:t>COLLABDESK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436AD39-E3AA-441C-85C2-46016CDA4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5CBD5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E0B0E5-09AF-4ABB-B39D-221423495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F36B"/>
                </a:solidFill>
                <a:latin typeface="Arial"/>
                <a:ea typeface="Arial"/>
                <a:cs typeface="Arial"/>
              </a:rPr>
              <a:t>API BACKUP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916DDA-5B5F-402A-B38C-DC718342A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38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003"/>
          </a:bodyPr>
          <a:lstStyle xmlns:a="http://schemas.openxmlformats.org/drawingml/2006/main">
            <a:def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98000"/>
              </a:lnSpc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Twelve endpoint actions support the current workspace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A4737B-B013-4CF8-A312-7F583985B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962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C5CBD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5CBD5"/>
                </a:solidFill>
                <a:latin typeface="Arial"/>
                <a:ea typeface="Arial"/>
                <a:cs typeface="Arial"/>
              </a:rPr>
              <a:t>The Vercel-style adapters are present; a deployed endpoint was not verified.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4799D4-8001-4239-BDBC-B8A2908BF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26C4F"/>
                </a:solidFill>
                <a:latin typeface="Arial"/>
                <a:ea typeface="Arial"/>
                <a:cs typeface="Arial"/>
              </a:rPr>
              <a:t>PROFILE + DEALS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94F255-9619-4885-95BA-696FA17F7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67075"/>
            <a:ext cx="320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GET /api/creator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91016F-FB63-449F-B55F-C867981F0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320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PUT /api/creator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5BA251-A930-4748-AFF8-AD4A5665D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24325"/>
            <a:ext cx="320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GET /api/deals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623957-4630-4C53-8F57-EFF397C8B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320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GET /api/deals/:id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80F9AA-BF67-42C0-B46B-51333C34C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81575"/>
            <a:ext cx="320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PATCH /api/deals/:id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D49192-DA5C-430D-8D81-929D55EA9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9146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7695FF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7695FF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7695FF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7695FF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7695FF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7695FF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7695FF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7695FF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7695FF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769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7695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695FF"/>
                </a:solidFill>
                <a:latin typeface="Arial"/>
                <a:ea typeface="Arial"/>
                <a:cs typeface="Arial"/>
              </a:rPr>
              <a:t>INBOX + REPLIES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7700A3-84CF-4924-8AB8-C28F7C708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267075"/>
            <a:ext cx="320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GET /api/samples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89C0A6-DD75-4937-9183-EA66E8DB8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695700"/>
            <a:ext cx="320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POST /api/inbox/parse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75694C-9FE2-4DF8-ADEA-C0A14352E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124325"/>
            <a:ext cx="320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POST /api/deals/:id/rate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0CDA38-5BDF-4E05-808F-CF663EC5C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552950"/>
            <a:ext cx="320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POST /api/deals/:id/reply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2C2047-BDB9-48BB-821C-1875F965D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9146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8F36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8F36B"/>
                </a:solidFill>
                <a:latin typeface="Arial"/>
                <a:ea typeface="Arial"/>
                <a:cs typeface="Arial"/>
              </a:rPr>
              <a:t>INSIGHTS + ASSISTANT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878E5E-1E86-4383-BBA4-EA08E62C8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267075"/>
            <a:ext cx="320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GET /api/content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18065F-3BFF-47CF-B699-990B39404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95700"/>
            <a:ext cx="320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GET /api/today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E23D5C-98E5-4F60-A1E8-07DD9F604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124325"/>
            <a:ext cx="320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POST /api/assistant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0BCD26-3222-42D9-A963-32610805F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105156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202C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7955EE-6FB9-4E91-A29F-0D9C9F565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62625"/>
            <a:ext cx="10067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C5CBD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5CBD5"/>
                </a:solidFill>
                <a:latin typeface="Arial"/>
                <a:ea typeface="Arial"/>
                <a:cs typeface="Arial"/>
              </a:rPr>
              <a:t>All API routes are shared single-user demo routes. No auth middleware or owner scoping.</a:t>
            </a:r>
          </a:p>
        </p:txBody>
      </p:sp>
    </p:spTree>
    <p:extLst>
      <p:ext uri="{BB962C8B-B14F-4D97-AF65-F5344CB8AC3E}">
        <p14:creationId xmlns:p14="http://schemas.microsoft.com/office/powerpoint/2010/main" val="76745097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C19433-7230-457C-8C7F-3D36C659F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97386"/>
                </a:solidFill>
                <a:latin typeface="Arial"/>
                <a:ea typeface="Arial"/>
                <a:cs typeface="Arial"/>
              </a:rPr>
              <a:t>COLLABDESK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1921BE1-BF6D-4D99-AC2E-7548DF0FA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97386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B82775-6E5E-42AD-8320-B8FA2D672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26C4F"/>
                </a:solidFill>
                <a:latin typeface="Arial"/>
                <a:ea typeface="Arial"/>
                <a:cs typeface="Arial"/>
              </a:rPr>
              <a:t>CODE MAP BACKUP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5A3A10-07EB-4380-ACA2-27F9CE171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38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98000"/>
              </a:lnSpc>
              <a:buNone/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Find implementation fast during judge Q&amp;A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5CFE4B-A281-4091-8613-EBE744787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962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The active React/API workflow is separate from an unused TypeScript engine module.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1353D2-2AEB-434A-8D6A-8FF697FB1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10668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649ACD-8E56-4B86-94B4-34B920F1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57525"/>
            <a:ext cx="2428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97386"/>
                </a:solidFill>
                <a:latin typeface="Arial"/>
                <a:ea typeface="Arial"/>
                <a:cs typeface="Arial"/>
              </a:rPr>
              <a:t>UI + browser API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A1B794-5AD4-4243-984E-18320462F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038475"/>
            <a:ext cx="7667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src/App.jsx · src/api.js · src/main.jsx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E6F741-7CA5-40D5-8492-0EBBC4BB2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10668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10B144-6158-4482-B289-F3AF36C02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86175"/>
            <a:ext cx="2428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97386"/>
                </a:solidFill>
                <a:latin typeface="Arial"/>
                <a:ea typeface="Arial"/>
                <a:cs typeface="Arial"/>
              </a:rPr>
              <a:t>API routes + validation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B33279-177B-493E-8CE3-37A3494A3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667125"/>
            <a:ext cx="7667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server/index.js · server/prompts.js · server/rate.js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6EAD98-C21A-480C-A4A5-A76994BE3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10668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2CCDE1-28DE-4892-B0EF-7C7560968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14825"/>
            <a:ext cx="2428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97386"/>
                </a:solidFill>
                <a:latin typeface="Arial"/>
                <a:ea typeface="Arial"/>
                <a:cs typeface="Arial"/>
              </a:rPr>
              <a:t>Persistence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85A0CC-3E51-4A30-B4CC-47E07B6C3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295775"/>
            <a:ext cx="7667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server/store.js · server/supabase-store.js · supabase/migrations/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CB6380-FE84-4190-951A-36A3E0DE9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10668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8885F2-5CB9-4E6E-AB62-328C2DF13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43475"/>
            <a:ext cx="2428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97386"/>
                </a:solidFill>
                <a:latin typeface="Arial"/>
                <a:ea typeface="Arial"/>
                <a:cs typeface="Arial"/>
              </a:rPr>
              <a:t>Fixtures +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8FC088-A885-48AA-B8BE-47FC7154A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924425"/>
            <a:ext cx="7667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server/data/db.json · server/samples.js · test/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FF5ED9-EFC4-45FB-8882-F94069F67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10668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CE1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604A51-3DF7-4413-AB46-BB7B3429F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72125"/>
            <a:ext cx="2428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26C4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26C4F"/>
                </a:solidFill>
                <a:latin typeface="Arial"/>
                <a:ea typeface="Arial"/>
                <a:cs typeface="Arial"/>
              </a:rPr>
              <a:t>Prototype logic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BF3A4F-DFBD-4987-B74F-AD8AC2093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553075"/>
            <a:ext cx="7667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src/lib/collab/engine.ts and types.ts are not imported by the active UI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408DD4-7DA0-4842-BC7F-2D56B4144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007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97386"/>
                </a:solidFill>
                <a:latin typeface="Arial"/>
                <a:ea typeface="Arial"/>
                <a:cs typeface="Arial"/>
              </a:rPr>
              <a:t>A live feature is one connected through the current frontend/API path—not merely a definition in an unused file.</a:t>
            </a:r>
          </a:p>
        </p:txBody>
      </p:sp>
    </p:spTree>
    <p:extLst>
      <p:ext uri="{BB962C8B-B14F-4D97-AF65-F5344CB8AC3E}">
        <p14:creationId xmlns:p14="http://schemas.microsoft.com/office/powerpoint/2010/main" val="6298686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2026-10-23T15:45:14.4250000Z</dcterms:created>
  <dcterms:modified xsi:type="dcterms:W3CDTF">2026-10-23T15:45:14.4250000Z</dcterms:modified>
</coreProperties>
</file>