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704513054a4d3a" /><Relationship Type="http://schemas.openxmlformats.org/officeDocument/2006/relationships/extended-properties" Target="/docProps/app.xml" Id="R506d10ed98904f39" /><Relationship Type="http://schemas.openxmlformats.org/officeDocument/2006/relationships/officeDocument" Target="/ppt/presentation.xml" Id="Rcb45015c9dfd47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1fc0edb8704157"/>
  </p:sldMasterIdLst>
  <p:notesMasterIdLst>
    <p:notesMasterId xmlns:r="http://schemas.openxmlformats.org/officeDocument/2006/relationships" r:id="R8acebbc782594a6e"/>
  </p:notesMasterIdLst>
  <p:sldIdLst>
    <p:sldId xmlns:r="http://schemas.openxmlformats.org/officeDocument/2006/relationships" id="256" r:id="R07186c0c99774c4c"/>
    <p:sldId xmlns:r="http://schemas.openxmlformats.org/officeDocument/2006/relationships" id="257" r:id="R84d5df67f4ba4e43"/>
    <p:sldId xmlns:r="http://schemas.openxmlformats.org/officeDocument/2006/relationships" id="258" r:id="Rbfd20691527f4a01"/>
    <p:sldId xmlns:r="http://schemas.openxmlformats.org/officeDocument/2006/relationships" id="259" r:id="Re3e0e8c3763246f1"/>
    <p:sldId xmlns:r="http://schemas.openxmlformats.org/officeDocument/2006/relationships" id="260" r:id="Ra17c78a58c6346c9"/>
    <p:sldId xmlns:r="http://schemas.openxmlformats.org/officeDocument/2006/relationships" id="261" r:id="R10b3c3cf653343ac"/>
    <p:sldId xmlns:r="http://schemas.openxmlformats.org/officeDocument/2006/relationships" id="262" r:id="R66d3fe1fda04410c"/>
    <p:sldId xmlns:r="http://schemas.openxmlformats.org/officeDocument/2006/relationships" id="263" r:id="R1bae2d86f50645b7"/>
    <p:sldId xmlns:r="http://schemas.openxmlformats.org/officeDocument/2006/relationships" id="264" r:id="R8e9c1d71414240f9"/>
    <p:sldId xmlns:r="http://schemas.openxmlformats.org/officeDocument/2006/relationships" id="265" r:id="R7189ddc9d831402b"/>
    <p:sldId xmlns:r="http://schemas.openxmlformats.org/officeDocument/2006/relationships" id="266" r:id="Rac811d8a3fa64e3a"/>
    <p:sldId xmlns:r="http://schemas.openxmlformats.org/officeDocument/2006/relationships" id="267" r:id="R9c7e3a1f124d40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4fb6b886d44539" /><Relationship Type="http://schemas.openxmlformats.org/officeDocument/2006/relationships/slideMaster" Target="/ppt/slideMasters/slideMaster1.xml" Id="R311fc0edb8704157" /><Relationship Type="http://schemas.openxmlformats.org/officeDocument/2006/relationships/notesMaster" Target="/ppt/notesMasters/notesMaster1.xml" Id="R8acebbc782594a6e" /><Relationship Type="http://schemas.openxmlformats.org/officeDocument/2006/relationships/presProps" Target="/ppt/presProps.xml" Id="R0f27f235ef634614" /><Relationship Type="http://schemas.openxmlformats.org/officeDocument/2006/relationships/tableStyles" Target="/ppt/tableStyles.xml" Id="R549867ff258e49eb" /><Relationship Type="http://schemas.openxmlformats.org/officeDocument/2006/relationships/slide" Target="/ppt/slides/slide1.xml" Id="R07186c0c99774c4c" /><Relationship Type="http://schemas.openxmlformats.org/officeDocument/2006/relationships/slide" Target="/ppt/slides/slide2.xml" Id="R84d5df67f4ba4e43" /><Relationship Type="http://schemas.openxmlformats.org/officeDocument/2006/relationships/slide" Target="/ppt/slides/slide3.xml" Id="Rbfd20691527f4a01" /><Relationship Type="http://schemas.openxmlformats.org/officeDocument/2006/relationships/slide" Target="/ppt/slides/slide4.xml" Id="Re3e0e8c3763246f1" /><Relationship Type="http://schemas.openxmlformats.org/officeDocument/2006/relationships/slide" Target="/ppt/slides/slide5.xml" Id="Ra17c78a58c6346c9" /><Relationship Type="http://schemas.openxmlformats.org/officeDocument/2006/relationships/slide" Target="/ppt/slides/slide6.xml" Id="R10b3c3cf653343ac" /><Relationship Type="http://schemas.openxmlformats.org/officeDocument/2006/relationships/slide" Target="/ppt/slides/slide7.xml" Id="R66d3fe1fda04410c" /><Relationship Type="http://schemas.openxmlformats.org/officeDocument/2006/relationships/slide" Target="/ppt/slides/slide8.xml" Id="R1bae2d86f50645b7" /><Relationship Type="http://schemas.openxmlformats.org/officeDocument/2006/relationships/slide" Target="/ppt/slides/slide9.xml" Id="R8e9c1d71414240f9" /><Relationship Type="http://schemas.openxmlformats.org/officeDocument/2006/relationships/slide" Target="/ppt/slides/slide10.xml" Id="R7189ddc9d831402b" /><Relationship Type="http://schemas.openxmlformats.org/officeDocument/2006/relationships/slide" Target="/ppt/slides/slide11.xml" Id="Rac811d8a3fa64e3a" /><Relationship Type="http://schemas.openxmlformats.org/officeDocument/2006/relationships/slide" Target="/ppt/slides/slide12.xml" Id="R9c7e3a1f124d40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61d8371ec745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8d188e17de45b0" /><Relationship Type="http://schemas.openxmlformats.org/officeDocument/2006/relationships/notesMaster" Target="/ppt/notesMasters/notesMaster1.xml" Id="Reb6a87ea62d242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33d61bb31b4e22" /><Relationship Type="http://schemas.openxmlformats.org/officeDocument/2006/relationships/notesMaster" Target="/ppt/notesMasters/notesMaster1.xml" Id="Rfe9677cc863649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7b54e6ca8b4d6a" /><Relationship Type="http://schemas.openxmlformats.org/officeDocument/2006/relationships/notesMaster" Target="/ppt/notesMasters/notesMaster1.xml" Id="Re0404327a91348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762eddcb0c4cad" /><Relationship Type="http://schemas.openxmlformats.org/officeDocument/2006/relationships/notesMaster" Target="/ppt/notesMasters/notesMaster1.xml" Id="Rcbd98bc185b94a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adf8d27d114f56" /><Relationship Type="http://schemas.openxmlformats.org/officeDocument/2006/relationships/notesMaster" Target="/ppt/notesMasters/notesMaster1.xml" Id="R3fb20b87f41646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0e7d7b8fce4f2d" /><Relationship Type="http://schemas.openxmlformats.org/officeDocument/2006/relationships/notesMaster" Target="/ppt/notesMasters/notesMaster1.xml" Id="R37654201e9624a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3fbebb9c794167" /><Relationship Type="http://schemas.openxmlformats.org/officeDocument/2006/relationships/notesMaster" Target="/ppt/notesMasters/notesMaster1.xml" Id="R1d8094b72d0241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aa05091235463b" /><Relationship Type="http://schemas.openxmlformats.org/officeDocument/2006/relationships/notesMaster" Target="/ppt/notesMasters/notesMaster1.xml" Id="R7059a523a9be48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0056dab4ae44e4" /><Relationship Type="http://schemas.openxmlformats.org/officeDocument/2006/relationships/notesMaster" Target="/ppt/notesMasters/notesMaster1.xml" Id="R25c74e1f768b4b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abb5cffbaa4680" /><Relationship Type="http://schemas.openxmlformats.org/officeDocument/2006/relationships/notesMaster" Target="/ppt/notesMasters/notesMaster1.xml" Id="Ra3156dc72c234f4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d4737b787d4e3f" /><Relationship Type="http://schemas.openxmlformats.org/officeDocument/2006/relationships/notesMaster" Target="/ppt/notesMasters/notesMaster1.xml" Id="Rd04c7ef2c1ce46b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e72eb7f43544eb" /><Relationship Type="http://schemas.openxmlformats.org/officeDocument/2006/relationships/notesMaster" Target="/ppt/notesMasters/notesMaster1.xml" Id="Rd10d9962581043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context taken from the CollabDesk workspace README and prototype. Demo currently uses seeded creator and deal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 is a product hypothesis based on the workflow CollabDesk addresses; no market-size or user-research claims are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Creator profile, rates, niche and guardrails come from server/data/db.json. These are seeded demo settings, not a real creator account.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three-part framing interprets the requested theme “attraction, motion, transformation” as the CollabDesk product narrative.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Capabilities are documented in README.md and implemented in the React/Vite frontend and Node/Hono API. Email parsing and reply drafting can use a model when configured; deterministic fallback paths are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Pricing logic comes from server/rate.js. The threshold and example are calculated from the demo reel rate (₹15,000 × 0.70 = ₹10,500). The quote function prices the deal format and usage window; it does not sum multi-format deliverables.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Deal example and rate are taken from server/samples.js, server/index.js and server/data/db.json. Quote logic compares this offer with the reel rate; pricing uses the deal format and usage period, not a sum of all deliverables.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Reach values are from server/data/db.json. The mean of the three seeded food posts is 78,000; the single beauty post is 11,000. This is demo fixture data only, not connected social analytics.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Views and labels correspond to the current application navigation in src/App.jsx. Content and deal values are prototype workspace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and product limits are stated in README.md. Data shown in the prototype is seeded fixture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Next steps are proposed roadmap items, not current capabilities. Ask: feedback and pilot conversations to test the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proposed pilot measures, not measured outcomes. The ask is for creator feedback and pilot conversations.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72c450b7274ce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6c23ca8f79487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7d17ba289c4f1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d3ec033c2448e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3fd539a0494e4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868ff2425e4f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929E72-7D31-4602-9A19-C469C43281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07F15E1-0C12-47A3-907F-1A1F44D700E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18CE898-E5D6-4F07-AD19-990075CF64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382B17-1DDE-4210-892D-CC1344A81F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4D12A47-C67F-46BB-B298-70C16D857A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C2F1887-560E-4F90-843A-44AEE57E70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A2A90FB-D4EB-4E71-AB70-7B0D6DD955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F278CFA-C867-4E3D-8161-6890014B44C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FABEF1-65B5-4728-B0FF-6642F8939F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7C6A9A-9375-49AB-85E6-47C6379803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6cdf2a3c67492d" /><Relationship Type="http://schemas.openxmlformats.org/officeDocument/2006/relationships/slideLayout" Target="/ppt/slideLayouts/slideLayout1.xml" Id="Rb727dbff1eb34334" /><Relationship Type="http://schemas.openxmlformats.org/officeDocument/2006/relationships/slideLayout" Target="/ppt/slideLayouts/slideLayout2.xml" Id="R4c6afe40e9444f65" /><Relationship Type="http://schemas.openxmlformats.org/officeDocument/2006/relationships/slideLayout" Target="/ppt/slideLayouts/slideLayout3.xml" Id="Ra7f46464c6c24ef9" /><Relationship Type="http://schemas.openxmlformats.org/officeDocument/2006/relationships/slideLayout" Target="/ppt/slideLayouts/slideLayout4.xml" Id="Rf1ccce1d77504b33" /><Relationship Type="http://schemas.openxmlformats.org/officeDocument/2006/relationships/slideLayout" Target="/ppt/slideLayouts/slideLayout5.xml" Id="R4188082acc0a429e" /><Relationship Type="http://schemas.openxmlformats.org/officeDocument/2006/relationships/slideLayout" Target="/ppt/slideLayouts/slideLayout6.xml" Id="Rb74bf973316b44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27dbff1eb34334"/>
    <p:sldLayoutId xmlns:r="http://schemas.openxmlformats.org/officeDocument/2006/relationships" id="2147483650" r:id="R4c6afe40e9444f65"/>
    <p:sldLayoutId xmlns:r="http://schemas.openxmlformats.org/officeDocument/2006/relationships" id="2147483651" r:id="Ra7f46464c6c24ef9"/>
    <p:sldLayoutId xmlns:r="http://schemas.openxmlformats.org/officeDocument/2006/relationships" id="2147483652" r:id="Rf1ccce1d77504b33"/>
    <p:sldLayoutId xmlns:r="http://schemas.openxmlformats.org/officeDocument/2006/relationships" id="2147483653" r:id="R4188082acc0a429e"/>
    <p:sldLayoutId xmlns:r="http://schemas.openxmlformats.org/officeDocument/2006/relationships" id="2147483654" r:id="Rb74bf973316b44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9a661f5b724863" /><Relationship Type="http://schemas.openxmlformats.org/officeDocument/2006/relationships/notesSlide" Target="/ppt/notesSlides/notesSlide1.xml" Id="Rae7c08ed293c42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46c92b759a4b4b" /><Relationship Type="http://schemas.openxmlformats.org/officeDocument/2006/relationships/notesSlide" Target="/ppt/notesSlides/notesSlide2.xml" Id="R072ac9080fa64b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23aa097d5545bc" /><Relationship Type="http://schemas.openxmlformats.org/officeDocument/2006/relationships/notesSlide" Target="/ppt/notesSlides/notesSlide3.xml" Id="R7794671054a04e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3ac249b5184467" /><Relationship Type="http://schemas.openxmlformats.org/officeDocument/2006/relationships/notesSlide" Target="/ppt/notesSlides/notesSlide4.xml" Id="Rd242833fe8d54d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9a896cf922453b" /><Relationship Type="http://schemas.openxmlformats.org/officeDocument/2006/relationships/notesSlide" Target="/ppt/notesSlides/notesSlide5.xml" Id="Rf8e4ad56057a43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708b1049a646f2" /><Relationship Type="http://schemas.openxmlformats.org/officeDocument/2006/relationships/notesSlide" Target="/ppt/notesSlides/notesSlide6.xml" Id="R3740473e907547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a3fa1e5291459c" /><Relationship Type="http://schemas.openxmlformats.org/officeDocument/2006/relationships/notesSlide" Target="/ppt/notesSlides/notesSlide7.xml" Id="R802db775b34f49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2dabd01de64b21" /><Relationship Type="http://schemas.openxmlformats.org/officeDocument/2006/relationships/notesSlide" Target="/ppt/notesSlides/notesSlide8.xml" Id="Rf53513bfe4ca4f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5c89e434364126" /><Relationship Type="http://schemas.openxmlformats.org/officeDocument/2006/relationships/notesSlide" Target="/ppt/notesSlides/notesSlide9.xml" Id="Re76b626c4e6540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bbef962e424f20" /><Relationship Type="http://schemas.openxmlformats.org/officeDocument/2006/relationships/notesSlide" Target="/ppt/notesSlides/notesSlide10.xml" Id="Rb7c69fdc1fd44e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c98c1131e949bd" /><Relationship Type="http://schemas.openxmlformats.org/officeDocument/2006/relationships/notesSlide" Target="/ppt/notesSlides/notesSlide11.xml" Id="Rbe1f9153478241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5cb5dc2538442c" /><Relationship Type="http://schemas.openxmlformats.org/officeDocument/2006/relationships/notesSlide" Target="/ppt/notesSlides/notesSlide12.xml" Id="R0b8469ea52e346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C015F6-C4CD-482F-B9F2-221A7FE5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800100"/>
            <a:ext cx="2324100" cy="2324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17B90-EC12-4A57-83AE-A2EB7082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09925"/>
            <a:ext cx="1085850" cy="1085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A081C-AC03-44FC-8B86-D1D0615B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2195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9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0F6D7-611E-44FA-9482-8E610B6A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6212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6B4B63-85D9-4C9E-8413-0E6BEA0B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38350"/>
            <a:ext cx="15240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FF6588-09B4-4988-B4C3-5D7B546D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14575"/>
            <a:ext cx="18669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340045-931A-4A87-8E89-B8DDB600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HACKATHON PITCH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CC5007-AC5B-404A-8CA0-FA85477A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68580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87000"/>
              </a:lnSpc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Collab</a:t>
            </a:r>
          </a:p>
          <a:p xmlns:a="http://schemas.openxmlformats.org/drawingml/2006/main">
            <a:pPr algn="l">
              <a:lnSpc>
                <a:spcPct val="87000"/>
              </a:lnSpc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B531D4-0217-4960-8C01-AE24AF01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86175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E4E8E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E4E8E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E4E8E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E4E8E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E4E8E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E4E8E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E4E8E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E4E8E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E4E8E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E4E8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E4E8E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8EF"/>
                </a:solidFill>
                <a:latin typeface="Arial"/>
                <a:ea typeface="Arial"/>
                <a:cs typeface="Arial"/>
              </a:rPr>
              <a:t>Make every brand inquiry a better deal.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6D3CE2-E5C9-4689-BE8B-20E0D2F9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33925"/>
            <a:ext cx="254317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A35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088E3C-262E-46E4-8D90-9895A0ED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00600"/>
            <a:ext cx="2314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CREATOR × BRAND 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3C50B6-2BF4-43B4-9F32-D577698B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Attraction → Motion → Transformation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147B77-3B9A-4BAE-AE49-2D19633D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9C2D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9C2D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9C2D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9C2D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9C2D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9C2D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9C2D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9C2D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9C2D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9C2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B9C2D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C2D0"/>
                </a:solidFill>
                <a:latin typeface="Arial"/>
                <a:ea typeface="Arial"/>
                <a:cs typeface="Arial"/>
              </a:rPr>
              <a:t>A creator-first desk for turning inbound emails into clear, reviewable partnership decisions.</a:t>
            </a:r>
          </a:p>
        </p:txBody>
      </p:sp>
    </p:spTree>
    <p:extLst>
      <p:ext uri="{BB962C8B-B14F-4D97-AF65-F5344CB8AC3E}">
        <p14:creationId xmlns:p14="http://schemas.microsoft.com/office/powerpoint/2010/main" val="1169314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A2D18D-36AD-434D-8B63-9699DA25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COLLABDESK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47F12ED-55EA-413E-82A2-B784E829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8C9DE-DB7C-4AFE-9C12-1CB12303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26C4F"/>
                </a:solidFill>
                <a:latin typeface="Arial"/>
                <a:ea typeface="Arial"/>
                <a:cs typeface="Arial"/>
              </a:rPr>
              <a:t>THE GAP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1D9CA-E8AE-4957-9A09-AA1F3473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 brand email starts a workflow, not a partnership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425F38-7168-4AF9-A267-7DD4B047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Creators still have to turn scattered details into decisions and follow-ups.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CDA2D-DF59-464D-B5F7-69E327ED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3333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8803F-364A-40A2-8EEE-60EDC3CB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6C4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302A17-A11A-4898-A018-43F63DB0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2809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INQUIRIES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EF4C21-0A8D-41A0-8B70-A52662CB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Terms arrive in free-form messages.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CFEA0C-8531-45BD-87C8-3DFE7342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95875"/>
            <a:ext cx="4191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50A003-7BAF-4EAE-81C0-3E35A90F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90850"/>
            <a:ext cx="3333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CE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A38FD0-8418-4CF1-ACD3-FBF9D8B4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004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6C4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6815C7-F448-4DD4-8C9C-9FF3D0EE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2809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DECISIONS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0AD617-ECF8-457F-9477-269F148F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719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Budget, deliverables and usage are easy to miss.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226369-7A38-4F59-8B5A-FD312A71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095875"/>
            <a:ext cx="4191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F28310-445B-4B26-8640-7C127E7D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90850"/>
            <a:ext cx="3333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2F6977-79B8-47F7-896A-51E55B0B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004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6C4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41ADC4-C263-4C1B-A17A-A62A48F9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14750"/>
            <a:ext cx="2809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FOLLOW-THROUGH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A97E16-E88A-43BD-B9CB-DF1D8064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719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Replies and payment follow-ups compete with making content.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6C1905-3751-459B-83AE-624C3E49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95875"/>
            <a:ext cx="4191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FD1BD3-1D00-414A-877B-82BC7376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opportunity: make the business side feel as manageable as the creative side.</a:t>
            </a:r>
          </a:p>
        </p:txBody>
      </p:sp>
    </p:spTree>
    <p:extLst>
      <p:ext uri="{BB962C8B-B14F-4D97-AF65-F5344CB8AC3E}">
        <p14:creationId xmlns:p14="http://schemas.microsoft.com/office/powerpoint/2010/main" val="9557777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9D7F91-32C6-4464-8218-A78B2984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COLLABDESK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5E26FDB-7310-4032-B816-537BD913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4581D-A006-40FE-9067-BB3D6D82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CREATOR PROFILE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A321C5-CFBB-46F4-84BD-C891A4F3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Aanya’s workspace gives every deal useful 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E88E2-D2A1-421B-B773-7D04F015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5CBD5"/>
                </a:solidFill>
                <a:latin typeface="Arial"/>
                <a:ea typeface="Arial"/>
                <a:cs typeface="Arial"/>
              </a:rPr>
              <a:t>The demo is configured for one Pune-based food and city-life creator.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D7A21-A46E-46AE-A375-99F5B941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4175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421C3-822C-433A-9547-97540F89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62325"/>
            <a:ext cx="1371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>
            <a:def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EAFD95-B7E6-4CA5-AA5F-D3599412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003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Aanya Kulkarni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3E69F6-7AE5-4949-AE36-5D828CC9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47662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5CBD5"/>
                </a:solidFill>
                <a:latin typeface="Arial"/>
                <a:ea typeface="Arial"/>
                <a:cs typeface="Arial"/>
              </a:rPr>
              <a:t>@aanya.eats.pune   ·   Pune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F66CA7-102E-4964-B7E7-0BFB4E17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924300"/>
            <a:ext cx="178117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A35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69490C-B5F5-4966-9457-E3949976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990975"/>
            <a:ext cx="1552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48,000 FOLLOWERS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2B59B9-586C-4737-A530-F37A6400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956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RATE CARD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11DF79-DFB6-40C5-A0E7-C7AF511D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0"/>
            <a:ext cx="39243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02C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7E6E6A-20C0-4AA5-A7D0-AD25E0D8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0"/>
            <a:ext cx="762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32B3D0-6E9B-4699-A6FC-EF378B50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62325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REEL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552FF7-33C0-48B3-95FA-6E3BFA92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314700"/>
            <a:ext cx="1466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₹15,000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EEC903-823B-4488-80E3-FE52D5F9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52850"/>
            <a:ext cx="39243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02C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2F76D3-8270-4228-ABE4-B91E6490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52850"/>
            <a:ext cx="762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9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3C764E-A139-4A76-9218-FE1332DC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76675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POST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125B28-57D5-4672-B5AC-C0F5B9A4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29050"/>
            <a:ext cx="1466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₹8,000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5466CB-6D0B-49A1-9149-F8E5864D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67200"/>
            <a:ext cx="39243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02C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9C73D2-E923-40BB-87D2-E7A9D4F2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67200"/>
            <a:ext cx="762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CE01EE-2F0C-431A-8C4E-689BD052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91025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STORIES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0DCCA8-46CF-464F-9DAC-78527273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343400"/>
            <a:ext cx="1466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₹4,000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AB3455-8831-4E41-AC43-E6525B10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439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202C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64BF06-99FA-40CC-BB22-5A5F63DD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72075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CREATOR GUARDRAILS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E26241-D6DC-4394-96EE-41FF2B7E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38775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 competing café in the same month  ·  30-day usage included  ·  Longer usage adds 40%</a:t>
            </a:r>
          </a:p>
        </p:txBody>
      </p:sp>
    </p:spTree>
    <p:extLst>
      <p:ext uri="{BB962C8B-B14F-4D97-AF65-F5344CB8AC3E}">
        <p14:creationId xmlns:p14="http://schemas.microsoft.com/office/powerpoint/2010/main" val="19414536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A2FCC6-C971-4FC2-8355-AAC379D2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COLLABDESK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5628CE3-338C-4B08-B962-113EAEEA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CF561-DD8F-4B5B-9F28-3C8F45E6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PRODUCT IDEA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DF3BF3-B7B6-426A-8C5A-5C918E39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Attraction → Motion → Transformation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7D4431-2002-4DAF-B52C-6F6C4E99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5CBD5"/>
                </a:solidFill>
                <a:latin typeface="Arial"/>
                <a:ea typeface="Arial"/>
                <a:cs typeface="Arial"/>
              </a:rPr>
              <a:t>One desk that helps creators find fit, move faster, and protect the value of each deal.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9A5EEF-3704-4F21-BC5C-907932EA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094B8-A708-4199-B107-2CA4D01E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94E12-7018-4038-AAFD-D669909D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26C4F"/>
                </a:solidFill>
                <a:latin typeface="Arial"/>
                <a:ea typeface="Arial"/>
                <a:cs typeface="Arial"/>
              </a:rPr>
              <a:t>ATTRACT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69EF4-862A-4338-81E8-B16BD61D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300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Find the right fit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2910C-C087-47B1-B4FE-D812EC22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3000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5CBD5"/>
                </a:solidFill>
                <a:latin typeface="Arial"/>
                <a:ea typeface="Arial"/>
                <a:cs typeface="Arial"/>
              </a:rPr>
              <a:t>Use creator context and content patterns to focus on partnerships that make sense.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BCF71A-8C1E-4F69-A332-0D7B407B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76600"/>
            <a:ext cx="7810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51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A68AF2-2EB6-4E3B-9D62-30DEE4DB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99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9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0E3971-A3A4-4FB1-8F9F-6AE5BEBA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194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5DF6CF-1CF0-438F-B894-BDD3EFCE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766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695FF"/>
                </a:solidFill>
                <a:latin typeface="Arial"/>
                <a:ea typeface="Arial"/>
                <a:cs typeface="Arial"/>
              </a:rPr>
              <a:t>MOTION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E32D98-30D4-4A0E-9058-589021FE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00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deal forward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213A8C-2724-4291-A47D-C9414FA0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81550"/>
            <a:ext cx="3000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5CBD5"/>
                </a:solidFill>
                <a:latin typeface="Arial"/>
                <a:ea typeface="Arial"/>
                <a:cs typeface="Arial"/>
              </a:rPr>
              <a:t>Turn an email into a deal card, compare the offer with the rate card, draft a reply.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A6822D-915A-411C-8F42-77F3EE3D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76600"/>
            <a:ext cx="7810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51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B217C3-1788-4C15-995E-9D04E51A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099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88F78D-8622-4B9A-B674-96707291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194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6BF616-5133-4CE8-A9DB-B5AA1DB3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766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472153-2806-4CEB-8D3D-CAC76C41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67200"/>
            <a:ext cx="300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 a better business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5BF777-BDC8-4554-81EF-B942A41B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81550"/>
            <a:ext cx="3000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5CBD5"/>
                </a:solidFill>
                <a:latin typeface="Arial"/>
                <a:ea typeface="Arial"/>
                <a:cs typeface="Arial"/>
              </a:rPr>
              <a:t>Keep terms, status and follow-ups visible so creators can make deliberate choices.</a:t>
            </a:r>
          </a:p>
        </p:txBody>
      </p:sp>
    </p:spTree>
    <p:extLst>
      <p:ext uri="{BB962C8B-B14F-4D97-AF65-F5344CB8AC3E}">
        <p14:creationId xmlns:p14="http://schemas.microsoft.com/office/powerpoint/2010/main" val="2561649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AAE87A-17E3-4819-9664-B0C73AA0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COLLABDESK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620768B-A977-4F0D-8B13-2ABF1865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3FAF1-8CA9-44A4-90E2-72E04D6A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26C4F"/>
                </a:solidFill>
                <a:latin typeface="Arial"/>
                <a:ea typeface="Arial"/>
                <a:cs typeface="Arial"/>
              </a:rPr>
              <a:t>WHAT WORKS TODAY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ACB171-B9A5-48D6-B868-26FCAE93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 small prototype with a complete deal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C88F8-7654-49AE-A044-1D0032F8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The demo follows an inquiry through parsing, pricing, reply drafting and follow-up.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68629-C205-4165-AC70-F5097A8C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98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366B9A-C458-4FD5-B76A-324B7AF4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77D656-52D6-4BD1-8310-3BF5F989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28575" cy="276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7B107A-4AC7-45F3-A98D-AA4EA9C0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8289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26E1FC-9CAF-48D9-A167-6A90B1DA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28925"/>
            <a:ext cx="742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Paste an email into the inbox.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F6EA7-F67A-47AB-9217-E6825D6E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3B935-E744-4E48-8A89-D731CCE7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F00B40-FF39-4094-A3B6-2DD11EE0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81425"/>
            <a:ext cx="28575" cy="276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EBD96E-5D4B-42C9-9B9D-00E6EB8F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448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Structure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213FD0-B0E1-4DB8-BE59-66A3D2F3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48050"/>
            <a:ext cx="742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Extract brand, budget, terms and deadline.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0077BA-1095-4DBB-AE3B-26AE9F03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DA6860-A3EA-49B3-BCD8-868E22FA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F01067-9C7E-4FFE-BDC5-0FB62DC6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28575" cy="276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AC9104-01CF-4067-B488-0BB62C2C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0671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9CC66A-3C61-4044-BBFD-61F51B64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67175"/>
            <a:ext cx="742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Compare offer to the creator’s rate and usage rules.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FA3979-5727-4602-A2AE-64D6E213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BA08FD-AF70-4EF3-B969-619E3F17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250475-6E7E-43A0-83F3-794E1002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9675"/>
            <a:ext cx="28575" cy="276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6094D5-C688-4C45-91D0-898D5B72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686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Respond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4228C0-0BD3-4C3A-AD68-6CE0A509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86300"/>
            <a:ext cx="742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Draft accept, counter, decline or clarification.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755092-EF25-4D8E-B296-06D24678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A8A1D1-A88E-4967-9672-6E5DB2CC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5B56C1-51B1-4070-9B99-E047B995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3054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Track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C313F6-5D96-4220-8052-A9E255E3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05425"/>
            <a:ext cx="742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Move the deal through new, negotiating, posted and paid.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CE5CDB-7814-49BC-9401-5D325677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683824-40B6-4237-B780-4E1C728F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Content insights and a bounded “Ask your desk” assistant add context to the next decision.</a:t>
            </a:r>
          </a:p>
        </p:txBody>
      </p:sp>
    </p:spTree>
    <p:extLst>
      <p:ext uri="{BB962C8B-B14F-4D97-AF65-F5344CB8AC3E}">
        <p14:creationId xmlns:p14="http://schemas.microsoft.com/office/powerpoint/2010/main" val="7644693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0CDD6C-7758-4257-8666-034223A5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COLLABDESK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CE7281C-0563-4375-8E42-A557D974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9D9E6-DB9E-472D-9DE9-18AFD48C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26C4F"/>
                </a:solidFill>
                <a:latin typeface="Arial"/>
                <a:ea typeface="Arial"/>
                <a:cs typeface="Arial"/>
              </a:rPr>
              <a:t>RATE AND USAGE LOGIC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8DA00-EB5D-4022-B64B-8EFED6DB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 transparent quote explains why an offer is flagged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61D470-C09C-4D9D-92AA-51CD61F3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The creator’s rate card stays the source of truth; the prototype makes the comparison visible.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8DA27-4FDE-4BCA-8FBB-FCE602B2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33337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2524C5-F194-4261-950C-C731F140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3E901-BAFE-4B29-9A95-3D06C041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28975"/>
            <a:ext cx="361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C4B2FB-0CDB-4B4B-8D0F-1FD38141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228975"/>
            <a:ext cx="2286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FORMAT 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222962-2968-4296-913C-69662AFE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>
            <a:def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Start with the creator’s rate for the deal format.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1BB99D-907B-4D39-B101-4DC3F7B3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57675"/>
            <a:ext cx="1619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F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F4DA87-1B2A-435A-B440-3CF07699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24350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REEL  ·  ₹15,000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97A06A-8235-4E7A-9808-06731F10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14650"/>
            <a:ext cx="33337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CE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ADBC66-4E6F-483C-9E0C-80CCCD02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4F862E-BA5D-4FBB-B3E6-7C0180FD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28975"/>
            <a:ext cx="361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F3B5A8-342B-4FC6-8DFA-00956ED6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228975"/>
            <a:ext cx="2286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USAGE WINDOW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BCE808-5785-408A-822E-D3177164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>
            <a:def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More than 30 days adds 40% to the suggested fee.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D70C8D-F16F-457E-A318-056361E4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57675"/>
            <a:ext cx="1619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837DBD-F345-407F-9A96-60FB606D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24350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31+ DAYS  ·  +40%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C397C7-5C4B-4E87-B79A-ECE00D74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14650"/>
            <a:ext cx="33337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D2E24E-A72A-4CC6-AA7B-DC85B9F0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7FC7D6-D9CF-4401-9D48-BA038946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28975"/>
            <a:ext cx="361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73E918-D401-4886-843C-029D3783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228975"/>
            <a:ext cx="2286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LOWBALL FLAG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170085-7729-48EA-9FA5-26817423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14750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>
            <a:def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Flag an offer below 70% of the suggested fee.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9BB39B-56E3-40C5-87F8-14E1D45B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57675"/>
            <a:ext cx="17526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F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39B44A-7D49-4CF6-9957-A1CE320A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243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₹15,000 × 70% = ₹10,500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948895-2986-44F7-AD42-7130F97D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68705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43A375-ADF9-4261-842F-9F1A0A17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95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DF1726-C427-414B-AB7A-EBBDA4C2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72075"/>
            <a:ext cx="9029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Café Ramwadi’s ₹8,000 offer is below the ₹10,500 flag threshold for a ₹15,000 reel rate.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46F5BE-569B-40BA-8766-30B1C3DE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The quote uses format + usage rules; it does not automatically add every listed deliverable.</a:t>
            </a:r>
          </a:p>
        </p:txBody>
      </p:sp>
    </p:spTree>
    <p:extLst>
      <p:ext uri="{BB962C8B-B14F-4D97-AF65-F5344CB8AC3E}">
        <p14:creationId xmlns:p14="http://schemas.microsoft.com/office/powerpoint/2010/main" val="9233377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6022F2-5F39-4DF7-94AA-6E0E7E64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COLLABDESK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0605944-3581-43B7-8AF5-562470BD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A54FC2-8021-4B6D-9AA3-E4368BA0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26C4F"/>
                </a:solidFill>
                <a:latin typeface="Arial"/>
                <a:ea typeface="Arial"/>
                <a:cs typeface="Arial"/>
              </a:rPr>
              <a:t>DEMO MOMENT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EA1A2-C3FD-4709-902A-B61753DC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From a messy inbox to a clear counter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5EE13-7BFB-4D86-955B-D2D95417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Example from the prototype: Café Ramwadi offers ₹8,000 for one reel and two stories.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4811B-9678-4540-A5EA-43D13291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238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108333-FA6A-4162-9FF5-C4C75B69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136207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649714-57F8-4632-8430-5CF7CA4F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1133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INBOUND EMAIL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DFE71-88DF-4CED-97CB-2397EAC6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27336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812"/>
          </a:bodyPr>
          <a:lstStyle xmlns:a="http://schemas.openxmlformats.org/drawingml/2006/main">
            <a:def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“We love your Pune food reels.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One reel + 2 stories.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Budget ₹8,000. Post this week.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30 days of usage.”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91997-382B-480B-9B88-E0E6EC09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9587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Café Ramwadi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E4042D-EA20-4678-B7C7-CD2881B5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67175"/>
            <a:ext cx="904875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66A472-C65D-4CC5-B989-91C5C806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9719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DDC28C-DBF4-4562-A70A-FEE31FA5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962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175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CF06E3-AAAC-4DCD-B629-9AB3D449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2857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FABEA5-3435-47B1-90DB-2876C119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67050"/>
            <a:ext cx="105727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F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8A0F87-73E0-4770-9EF6-0621863B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33725"/>
            <a:ext cx="828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DEAL CARD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C1D39D-8AF3-4491-9A86-83E5F763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00450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Café Ramwadi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D5B9AD-30FF-491E-B07B-B0EF70D2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195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PAID COLLAB  ·  REEL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B44EFC-CF28-490C-9DBE-1F552EF9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95800"/>
            <a:ext cx="230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6C4F"/>
                </a:solidFill>
                <a:latin typeface="Arial"/>
                <a:ea typeface="Arial"/>
                <a:cs typeface="Arial"/>
              </a:rPr>
              <a:t>₹8,000 offer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26A161-652B-4B1D-A365-F86996EE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905375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Creator reel rate: ₹15,000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A66AF9-BA0D-4446-8BC1-319FB0E6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219700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30-day usage included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6A2772-08A2-43DA-983F-A14316FF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67175"/>
            <a:ext cx="8191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9F6844-D10C-4904-AA2F-EFAAF501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9719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C9D5A7-7748-4105-966B-D786757F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962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175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8835D1-C501-4547-8C4D-80F6F7C8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857500"/>
            <a:ext cx="2047875" cy="27241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0520BA-66AB-4971-B10C-E97BC6BB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067050"/>
            <a:ext cx="9334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8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193C4C-A468-49E7-8FC2-63D7B23C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133725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NEXT STEP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3B610C-935C-4C81-8782-B86A2A07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638550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Counter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 context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E076D8-3F7F-4083-ABDB-ED2AD655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572000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5CBD5"/>
                </a:solidFill>
                <a:latin typeface="Arial"/>
                <a:ea typeface="Arial"/>
                <a:cs typeface="Arial"/>
              </a:rPr>
              <a:t>Draft a reply.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5CBD5"/>
                </a:solidFill>
                <a:latin typeface="Arial"/>
                <a:ea typeface="Arial"/>
                <a:cs typeface="Arial"/>
              </a:rPr>
              <a:t>Review and edit.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5CBD5"/>
                </a:solidFill>
                <a:latin typeface="Arial"/>
                <a:ea typeface="Arial"/>
                <a:cs typeface="Arial"/>
              </a:rPr>
              <a:t>Copy when ready.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66A4C8-9C20-451F-91F2-356C0CDB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A useful decision aid—not an auto-send bot.</a:t>
            </a:r>
          </a:p>
        </p:txBody>
      </p:sp>
    </p:spTree>
    <p:extLst>
      <p:ext uri="{BB962C8B-B14F-4D97-AF65-F5344CB8AC3E}">
        <p14:creationId xmlns:p14="http://schemas.microsoft.com/office/powerpoint/2010/main" val="2301643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9FA06D-EF5E-48A8-AAB7-CA30C7BE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COLLABDESK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0203FBB-4283-400F-8E39-00A5BA65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D5663-2F76-473F-910D-2A67A1A8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CONTENT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B688C-C329-48C8-9577-06953E10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 past performance to shape a better-fit brief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EF3274-1A36-40B5-8E21-4C68B404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5CBD5"/>
                </a:solidFill>
                <a:latin typeface="Arial"/>
                <a:ea typeface="Arial"/>
                <a:cs typeface="Arial"/>
              </a:rPr>
              <a:t>Demo post data gives the creator a starting point for partnership conversations.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C1FA7F-2194-4832-B9C7-ABC689CE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AVERAGE REACH IN SEEDED DEMO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9A9BB-3F0C-4FD7-8919-98255B2D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FOOD POSTS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FA76A4-4D6F-4858-A4FF-FCB1C550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4953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03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C4887D-9A2E-472D-B059-A435D9F7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386334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557566-23A9-48FA-8329-01C3D77A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14750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posts · 78,000 average reach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C197B-5D84-487F-861F-B89AD399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BEAUTY POST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A063EF-1645-4880-964D-DDBF902B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4953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03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65CCB2-DE49-401E-AC0F-34CB8C88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54483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769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1A4F27-7311-480E-9DEB-842011F4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43450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post · 11,000 reach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1EEEE5-31CB-426B-8EA6-4BE354AA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42987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02C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3D05DC-8AA2-4DED-A196-2A8C4B1A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86450"/>
            <a:ext cx="9877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Directional signal only: posts are fixtures in the prototype, not live platform analytics.</a:t>
            </a:r>
          </a:p>
        </p:txBody>
      </p:sp>
    </p:spTree>
    <p:extLst>
      <p:ext uri="{BB962C8B-B14F-4D97-AF65-F5344CB8AC3E}">
        <p14:creationId xmlns:p14="http://schemas.microsoft.com/office/powerpoint/2010/main" val="5394884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A83B83-6C79-4095-8F3B-8A3FAF6E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COLLABDESK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E806233-137B-4BD1-B872-74DC40B9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F5847-9F7F-4211-B8FE-BA93A340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26C4F"/>
                </a:solidFill>
                <a:latin typeface="Arial"/>
                <a:ea typeface="Arial"/>
                <a:cs typeface="Arial"/>
              </a:rPr>
              <a:t>WORKSPACE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2BDF0-605E-4982-80DB-EDEC2DAD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Five views keep the creator’s work in one place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F39EF9-06A3-4CF0-BBFA-0A7A61B3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Each view serves one step in the creator-brand collaboration cycle.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0814B-8C78-4396-A35F-901C58A7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3147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8B81E-B76F-4F1E-9F49-5DC399FF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66675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14AEC4-A95F-47FA-BDA3-F4AA7BBB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4381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C0003F-7020-4881-B65D-202A4F23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3372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EEFE6D-0C44-4F41-9BE7-192CB1EC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14675"/>
            <a:ext cx="2324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TODAY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1413D9-AAAB-4E1D-A2B3-DABDC7E6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52825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Next actions, deal counts and follow-ups.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A36118-6C26-44EC-B257-C7DD3CC0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76550"/>
            <a:ext cx="33147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339551-9678-4715-A3A1-8A1B662D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76550"/>
            <a:ext cx="66675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9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7FF660-1288-4A23-BAFC-BDED3850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67050"/>
            <a:ext cx="4381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69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92C917-A21E-44A2-8079-391A7525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3372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F806C2-96DE-4CBF-85CA-20DA6833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14675"/>
            <a:ext cx="2324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INBOX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3EEAFF-9E46-4C25-A7C0-8B0D575C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52825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Paste a brand email and extract its terms.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8F641C-60D6-44C7-A965-79D6B918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76550"/>
            <a:ext cx="33147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865FC0-F7CB-4A3C-AFA7-D5555F83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76550"/>
            <a:ext cx="66675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7FBAAD-8442-4773-ADCA-7A6994A4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67050"/>
            <a:ext cx="4381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8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6387E4-CF3B-43FB-B2CB-DBA8F3BA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3372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F64C88-B1C5-4C61-B8D1-39A0B1CE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14675"/>
            <a:ext cx="2324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DEALS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46CE39-3DF0-41D4-9501-2646147E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52825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Track offers through paid and posted stages.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156B06-C29C-4EDD-BB57-A173FB11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33900"/>
            <a:ext cx="33147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41D256-BA01-4557-8CEB-5A4F5C4B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33900"/>
            <a:ext cx="66675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0E9E3C-38B8-4F9E-8531-5280FDE7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24400"/>
            <a:ext cx="4381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8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889F3D-4BF4-4C60-B455-4EACE4C0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79107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47628E-0E2C-4A03-A589-70B8CBE1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772025"/>
            <a:ext cx="2324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CONTENT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A1C92E-9BA0-48CD-AF88-679EFD8F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210175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Review reach and saves from workspace data.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1B0EF3-564A-4AF8-9258-76DD4E36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33900"/>
            <a:ext cx="33147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1577C8-4D5D-4624-8932-0DB5CFEC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33900"/>
            <a:ext cx="66675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2B158B-5D64-476C-A0BA-CEFD6C11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24400"/>
            <a:ext cx="4381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867789-D7E4-410A-B0AB-F15A92E0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9107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F6754B-A659-4A27-99A8-7CDA38D6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72025"/>
            <a:ext cx="2324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MEDIA KIT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554AE7-0ED6-4E77-B074-845C8836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10175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Maintain creator niche, audience and rates.</a:t>
            </a:r>
          </a:p>
        </p:txBody>
      </p:sp>
    </p:spTree>
    <p:extLst>
      <p:ext uri="{BB962C8B-B14F-4D97-AF65-F5344CB8AC3E}">
        <p14:creationId xmlns:p14="http://schemas.microsoft.com/office/powerpoint/2010/main" val="1267865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FEF8B4-32F5-4B03-B1AE-E28ACB8B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COLLABDESK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82E0704-AE24-4950-BC20-2B5BCEDB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822C4F-245F-4EDE-979B-156AF43C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HOW IT IS BUILT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5987F-94DC-46B8-9170-D4849920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Simple rules for the decision; AI for the busywork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0EB57-0E61-417C-A99B-2F6FDC95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5CBD5"/>
                </a:solidFill>
                <a:latin typeface="Arial"/>
                <a:ea typeface="Arial"/>
                <a:cs typeface="Arial"/>
              </a:rPr>
              <a:t>A human stays in control of every business decision and outgoing message.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94CFC-1B0F-43B8-911C-60E6201A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6048375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202C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D94C0-50BC-4851-93D0-7C261C59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0520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9D191-D244-470D-9769-6B64EEEE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05200"/>
            <a:ext cx="14287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9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4D8635-6422-4F6B-B221-697F2BDC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24275"/>
            <a:ext cx="1162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CREATOR UI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34818-A14C-498F-9F67-373A40B3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195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203"/>
          </a:bodyPr>
          <a:lstStyle xmlns:a="http://schemas.openxmlformats.org/drawingml/2006/main">
            <a:def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5CBD5"/>
                </a:solidFill>
                <a:latin typeface="Arial"/>
                <a:ea typeface="Arial"/>
                <a:cs typeface="Arial"/>
              </a:rPr>
              <a:t>Inbox · deals · rates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457F97-01BE-4B28-968C-6D0DE398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0520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15FE3C-EE68-4E0B-8DC2-F71204D8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05200"/>
            <a:ext cx="14287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1A5A85-AE4E-46AF-8DC3-6A0470A0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724275"/>
            <a:ext cx="1162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WORKFLOW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916B88-E02D-454A-AEDB-23B6D8C9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0195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50"/>
          </a:bodyPr>
          <a:lstStyle xmlns:a="http://schemas.openxmlformats.org/drawingml/2006/main">
            <a:def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5CBD5"/>
                </a:solidFill>
                <a:latin typeface="Arial"/>
                <a:ea typeface="Arial"/>
                <a:cs typeface="Arial"/>
              </a:rPr>
              <a:t>Parse · quote · draft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8290FD-6A2A-44F8-8373-92536706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0520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B00160-C626-4592-BA40-752419EA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05200"/>
            <a:ext cx="14287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2EC300-B477-4360-B5B8-E42BB2E4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724275"/>
            <a:ext cx="1162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WORKSPACE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48564E-E821-468A-8451-A0839140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0195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910"/>
          </a:bodyPr>
          <a:lstStyle xmlns:a="http://schemas.openxmlformats.org/drawingml/2006/main">
            <a:def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5CBD5"/>
                </a:solidFill>
                <a:latin typeface="Arial"/>
                <a:ea typeface="Arial"/>
                <a:cs typeface="Arial"/>
              </a:rPr>
              <a:t>Demo data · storage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2468ED-449F-4922-8BBD-38E13F34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9814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967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421350-15B1-4D96-A139-8C244B56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814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967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2341E1-9227-450B-A519-872C3D1F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10125"/>
            <a:ext cx="2286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Optional model assistance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16F45E-7B72-4BC0-9B5E-43A7042E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05400"/>
            <a:ext cx="5000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Rate and usage rules stay deterministic.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650BE0-5DFF-414F-A50C-AE68A949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146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CURRENT BOUNDARIES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11A3DF-591B-407B-8741-9F38FFAB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71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70A342-1D37-49D8-A8DB-3107506F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24225"/>
            <a:ext cx="3752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 login or multi-creator isolation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BD1CB4-8D5E-4B99-93FD-1A31DF8A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38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9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EC738F-D139-44A1-802C-207F63A6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990975"/>
            <a:ext cx="3752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 live social account or analytics connection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DFF775-1726-4417-B157-C6C8F58D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05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9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E670A1-86C9-4073-B047-DB75B829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57725"/>
            <a:ext cx="3752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 automatic email sending or invoicing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2D18AE-C289-4988-A374-21440F1E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429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Trust starts with clear limits and creator review.</a:t>
            </a:r>
          </a:p>
        </p:txBody>
      </p:sp>
    </p:spTree>
    <p:extLst>
      <p:ext uri="{BB962C8B-B14F-4D97-AF65-F5344CB8AC3E}">
        <p14:creationId xmlns:p14="http://schemas.microsoft.com/office/powerpoint/2010/main" val="3907907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C16FA7-B9C1-4DE6-8D55-BE70E96F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COLLABDESK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1A50B7D-C7F4-447D-B429-E2DF385E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FDC5E-B6F7-4D38-8E33-EEAE97C1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26C4F"/>
                </a:solidFill>
                <a:latin typeface="Arial"/>
                <a:ea typeface="Arial"/>
                <a:cs typeface="Arial"/>
              </a:rPr>
              <a:t>HACKATHON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50F164-7F68-4592-A059-F4CED44F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Help us validate the workflow with real creators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E140F-D35B-4144-82C2-47B53BD5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The next milestone is learning whether the desk saves effort and improves deal clarity.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CCA3C0-0421-482D-810F-03333FFF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953000" cy="25336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107DF2-AB76-4C00-A44E-F2BAD1BE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24200"/>
            <a:ext cx="20193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8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0BAB40-8277-4237-A6BC-01D73F87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0875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WE WANT TO LEARN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C29F6F-675E-4956-AFEA-646BEB40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42576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Can creators act on an offer faster—and feel clearer about the terms?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2FE6B1-C6FB-46CE-9898-2558D94E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4219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5CBD5"/>
                </a:solidFill>
                <a:latin typeface="Arial"/>
                <a:ea typeface="Arial"/>
                <a:cs typeface="Arial"/>
              </a:rPr>
              <a:t>We want feedback from creators and a few brands on the inbox-to-reply flow.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4D1631-DDBE-4F41-BD01-75180FC1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622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26C4F"/>
                </a:solidFill>
                <a:latin typeface="Arial"/>
                <a:ea typeface="Arial"/>
                <a:cs typeface="Arial"/>
              </a:rPr>
              <a:t>NEXT BUILD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C8036E-8A4B-4404-A241-BEC1A44F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480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948E16-3914-41B4-BF39-82413A8F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2425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67"/>
          </a:bodyPr>
          <a:lstStyle xmlns:a="http://schemas.openxmlformats.org/drawingml/2006/main">
            <a:def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4624D0-794B-42E7-8204-08A20CE9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38525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Secure creator accounts and private workspaces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CED9BC-C43D-4EDA-9436-6338A23D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338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64AB74-3901-4D1B-9FB3-1623AED8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1005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67"/>
          </a:bodyPr>
          <a:lstStyle xmlns:a="http://schemas.openxmlformats.org/drawingml/2006/main">
            <a:def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0625EF-2AEE-44FF-9162-1BC7002F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24325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Connect real social metrics with creator permission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0481F4-BCE4-495D-9935-828F3CBA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196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1768A0-78C1-4F5A-866B-0E7156D8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9585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67"/>
          </a:bodyPr>
          <a:lstStyle xmlns:a="http://schemas.openxmlformats.org/drawingml/2006/main">
            <a:def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1D1478-1CC4-4EB0-9454-B97D8950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10125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Test rate and usage decisions with pilot users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F81DBB-D9F8-4B87-A37E-820260F0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619750"/>
            <a:ext cx="5181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ECE437-30C1-486A-BB11-509B2079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8483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CollabDesk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F1643D-4E08-43F6-B323-3B5518E5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61531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Make the business side easier to manage.</a:t>
            </a:r>
          </a:p>
        </p:txBody>
      </p:sp>
    </p:spTree>
    <p:extLst>
      <p:ext uri="{BB962C8B-B14F-4D97-AF65-F5344CB8AC3E}">
        <p14:creationId xmlns:p14="http://schemas.microsoft.com/office/powerpoint/2010/main" val="15870120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179A3D-8414-4FB8-B2C3-05725D50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COLLABDESK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40893AB-55ED-44B7-8678-E328623A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46D8B-5CD8-41F4-845A-55F7617A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WHAT WE WILL VALIDATE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DFD773-54C7-4471-9AB4-68B78D59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useful desk should make the next decision clearer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71A9A4-557C-40CC-83AF-8DD10678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5CBD5"/>
                </a:solidFill>
                <a:latin typeface="Arial"/>
                <a:ea typeface="Arial"/>
                <a:cs typeface="Arial"/>
              </a:rPr>
              <a:t>We want to test the workflow with creators before expanding integrations.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4CED7-D13C-452F-AF87-76DA6671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DAB02D-1298-44D9-B6A1-6202042D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67"/>
          </a:bodyPr>
          <a:lstStyle xmlns:a="http://schemas.openxmlformats.org/drawingml/2006/main">
            <a:def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390A4-F64B-4CCC-98D7-B227D2A5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05125"/>
            <a:ext cx="161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285C4D-86A2-48BB-901B-E7E0B2CE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76550"/>
            <a:ext cx="657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Email received → reply reviewed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BBE76-394A-452E-980B-42706933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9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9667C0-3937-4498-8BFB-A7BB492A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67"/>
          </a:bodyPr>
          <a:lstStyle xmlns:a="http://schemas.openxmlformats.org/drawingml/2006/main">
            <a:def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00E1FA-7577-4779-9997-D303423D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90925"/>
            <a:ext cx="161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QUALITY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B2248E-DC6A-4843-8E2F-1ABA4AAF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62350"/>
            <a:ext cx="657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Key terms extracted correctly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F462B2-A95E-403D-AD3E-B3D96F4E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531AD7-1AD6-43F4-B347-AEF19538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67"/>
          </a:bodyPr>
          <a:lstStyle xmlns:a="http://schemas.openxmlformats.org/drawingml/2006/main">
            <a:def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F62D65-B2A7-46A8-AD24-0CA275A1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76725"/>
            <a:ext cx="161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CONFIDENCE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345A07-519F-41FB-8BC5-09BEC388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48150"/>
            <a:ext cx="657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Creator agrees with the rate and usage flag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82B3E8-886E-4ED1-9E1E-C5F904DB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37952F-BCCE-4420-A3CF-542B1A68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67"/>
          </a:bodyPr>
          <a:lstStyle xmlns:a="http://schemas.openxmlformats.org/drawingml/2006/main">
            <a:def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4A6E26-C954-496B-A657-845B9E0C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62525"/>
            <a:ext cx="161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FOLLOW-THROUGH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6C292B-1F6C-4B8C-ADC4-AD3B7878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33950"/>
            <a:ext cx="657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 action completed on time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FBA575-F2D6-4CE8-846A-15B7BA0D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439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D4D2A7-5580-4ADB-AD4E-159A0934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626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OUR ASK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E8B6C1-F934-4031-8A58-40604C9D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915025"/>
            <a:ext cx="8705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Creator pilot partners + feedback on the inbox-to-reply experience.</a:t>
            </a:r>
          </a:p>
        </p:txBody>
      </p:sp>
    </p:spTree>
    <p:extLst>
      <p:ext uri="{BB962C8B-B14F-4D97-AF65-F5344CB8AC3E}">
        <p14:creationId xmlns:p14="http://schemas.microsoft.com/office/powerpoint/2010/main" val="3162310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2026-10-23T14:49:37.8850000Z</dcterms:created>
  <dcterms:modified xsi:type="dcterms:W3CDTF">2026-10-23T14:49:37.8850000Z</dcterms:modified>
</coreProperties>
</file>